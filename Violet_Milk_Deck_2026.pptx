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naming what this is: working software, not a concept. Everything shown today runs on this laptop with the network unplugged.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claim the tracing itself is unsolved - it isn't. The credible gap is the join to Indian case material and the statutory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analogy earns its place only because the percentages are actually computed. Move quickly to the real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reproducibility: this matters for Section 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from a hackathon demo. Overstating an inferred link is exactly what gets forensic software thrown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not ML here: Section 63 requires explaining how the output was produced. Arithmetic can be explained to a court.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XGBoost is deliberately absent: it is supervised and needs labelled fraud wallets, which do not exist for this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filing limitation before anyone asks. It earns more credit than the button ever would.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limits before anyone asks. An anchor is an existence-and-time proof, not an authorship proof. Saying so is what makes the rest credible - and no other team will have this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offered a random address, trace it. If it fails, say why: bounds, or no token activity. Do not pretend.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claim they lack multi-hop tracing - it is their core product and a judge may know it. Data sovereignty and cost are the real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creates the need for the ask. Do not claim outcomes we have not measured - one question about methodology and it collapses.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limitation, not the boast. It is what makes the rest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1051560"/>
            <a:ext cx="3200400" cy="3200400"/>
          </a:xfrm>
          <a:prstGeom prst="ellipse">
            <a:avLst/>
          </a:prstGeom>
          <a:solidFill>
            <a:srgbClr val="8B6FD4">
              <a:alpha val="12000"/>
            </a:srgbClr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1600200"/>
            <a:ext cx="2103120" cy="2103120"/>
          </a:xfrm>
          <a:prstGeom prst="ellipse">
            <a:avLst/>
          </a:prstGeom>
          <a:solidFill>
            <a:srgbClr val="8B6FD4">
              <a:alpha val="2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464040" y="2148840"/>
            <a:ext cx="1005840" cy="1005840"/>
          </a:xfrm>
          <a:prstGeom prst="ellipse">
            <a:avLst/>
          </a:prstGeom>
          <a:solidFill>
            <a:srgbClr val="8B6FD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CHANDIGARH POLICE CYBER CRIME HACKATHON  ·  8 SEPTEMBER 2026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627632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Violet Milk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crypto-enabled fraud from the victim's bank account to the wallet — and producing the paperwork an Indian court will accept.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379476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SOFTWARE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379476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TESTS PASSING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7720" y="379476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7720" y="3794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892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Pranshu  ·  B.Tech Cybersecurity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212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build · all case identities synthetic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 is traceable. The case file isn't.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157276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 reports to 1930 / NCRP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188366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FIR is registered with a bank UTR and a timestamp.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596896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254203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convert to USDT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" y="285292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minutes, via an exchange or a P2P counterparty.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566160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5112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Dispersal across wallets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38221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Mixers, bridges, dozens of hops — all publicly recorded.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535424"/>
            <a:ext cx="384048" cy="3840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3856" y="44805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investigator stops here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479145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joins the bank record to the chain, and none produces a Sec 63 certificate.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635240" y="1572768"/>
            <a:ext cx="3977640" cy="3657600"/>
          </a:xfrm>
          <a:prstGeom prst="roundRect">
            <a:avLst>
              <a:gd name="adj" fmla="val 750"/>
            </a:avLst>
          </a:prstGeom>
          <a:solidFill>
            <a:srgbClr val="ECE7F6"/>
          </a:solidFill>
          <a:ln w="12700">
            <a:solidFill>
              <a:srgbClr val="D5CC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189280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4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is not tracing.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532888"/>
            <a:ext cx="3383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analytics firms already trace chains extremely well.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 tool does is read an Indian bank statement, understand a UTR, join it to the on-chain flow, and emit a Section 63 BSA 2023 evidence dossier.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join is the whole product.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milk in a hundred utensils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violet milk into one vessel, then split it across a hundred more. The colour never disappears — you can still measure how much violet is in each.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871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 milk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248716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24871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Traced fraud proceeds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14553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hundred utensils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1455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31455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 across the chain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0390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with clean milk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80390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80390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Mixers, tumblers, liquidity pools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46227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never disappears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446227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is immutable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1206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the shade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51206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5120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Illicit percentage per wallet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772400" y="1572768"/>
            <a:ext cx="3840480" cy="393192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18470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METAPHOR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wallet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223113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8092440" y="261518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25" name="Shape 23"/>
          <p:cNvSpPr/>
          <p:nvPr/>
        </p:nvSpPr>
        <p:spPr>
          <a:xfrm>
            <a:off x="8092440" y="261518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E5484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92440" y="3246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one hop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31912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590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8092440" y="357530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29" name="Shape 27"/>
          <p:cNvSpPr/>
          <p:nvPr/>
        </p:nvSpPr>
        <p:spPr>
          <a:xfrm>
            <a:off x="8092440" y="3575304"/>
            <a:ext cx="1920240" cy="146304"/>
          </a:xfrm>
          <a:prstGeom prst="roundRect">
            <a:avLst>
              <a:gd name="adj" fmla="val 12500"/>
            </a:avLst>
          </a:prstGeom>
          <a:solidFill>
            <a:srgbClr val="E5901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092440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clean pool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0" y="41513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3D9A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12%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8092440" y="453542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33" name="Shape 31"/>
          <p:cNvSpPr/>
          <p:nvPr/>
        </p:nvSpPr>
        <p:spPr>
          <a:xfrm>
            <a:off x="8092440" y="4535424"/>
            <a:ext cx="411480" cy="146304"/>
          </a:xfrm>
          <a:prstGeom prst="roundRect">
            <a:avLst>
              <a:gd name="adj" fmla="val 12500"/>
            </a:avLst>
          </a:prstGeom>
          <a:solidFill>
            <a:srgbClr val="3D9A6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92440" y="50932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 falls below the 30% reporting threshold — so the pool is correctly NOT flagged.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engines, one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CSV + wallet data, hashed in the browser before upload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graph traversal — depth, amount, time and fan-out capped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9872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75904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59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88552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 haircut, replayed in strict timestamp order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3995928"/>
            <a:ext cx="457200" cy="45720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35608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deterministic rules, each carrying its own evidence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43400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9432" y="399592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99432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212080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Timeline, risk breakdown, confirmed vs inferred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19872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5904" y="3995928"/>
            <a:ext cx="457200" cy="457200"/>
          </a:xfrm>
          <a:prstGeom prst="ellipse">
            <a:avLst/>
          </a:prstGeom>
          <a:solidFill>
            <a:srgbClr val="3D9A6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75904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375904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63 BSA dossier and a draft FIU-IND STR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deterministic and reproducible. The same case yields the same result every run — including on stage.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and inferred are never drawn alike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394960" cy="3200400"/>
          </a:xfrm>
          <a:prstGeom prst="roundRect">
            <a:avLst>
              <a:gd name="adj" fmla="val 857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65376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the blockchain or in a bank record.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2944368"/>
            <a:ext cx="4754880" cy="0"/>
          </a:xfrm>
          <a:prstGeom prst="line">
            <a:avLst/>
          </a:prstGeom>
          <a:noFill/>
          <a:ln w="31750">
            <a:solidFill>
              <a:srgbClr val="3D9A6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127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as a solid edge. 16 of 17 transfers in the demo case.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7673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transaction hash, a block number, or a UTR sits behind every 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1572768"/>
            <a:ext cx="5394960" cy="3200400"/>
          </a:xfrm>
          <a:prstGeom prst="roundRect">
            <a:avLst>
              <a:gd name="adj" fmla="val 857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1865376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D9B21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B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hypothesis. Not a proven transfer.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37960" y="2944368"/>
            <a:ext cx="4754880" cy="0"/>
          </a:xfrm>
          <a:prstGeom prst="line">
            <a:avLst/>
          </a:prstGeom>
          <a:noFill/>
          <a:ln w="31750">
            <a:solidFill>
              <a:srgbClr val="D9B21C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537960" y="3127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as a dashed edge. Exactly 1 in the demo case.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376732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UPI debit and an exchange deposit 13 seconds apart is a strong lead — it is not evidence that the two are the same money.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001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court dossier lists the two categories separately, and says so on the page.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rules an officer can recompute by hand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572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to the seed cluster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572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121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214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dispersal — outbound under 4 minutes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214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670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700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 contract interaction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6700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2186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186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 bridge exposure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2186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67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beyond five downstream addresses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767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3159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3159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below a reporting threshold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43159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4864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864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correlation with the victim's bank debit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48646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98080" y="1572768"/>
            <a:ext cx="4114800" cy="3840480"/>
          </a:xfrm>
          <a:prstGeom prst="roundRect">
            <a:avLst>
              <a:gd name="adj" fmla="val 714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18120" y="18470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18120" y="213969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0xa7f3…67e9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818120" y="259689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12480" y="259689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818120" y="298094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33649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12480" y="3364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818120" y="3749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818120" y="4242816"/>
            <a:ext cx="3474720" cy="0"/>
          </a:xfrm>
          <a:prstGeom prst="line">
            <a:avLst/>
          </a:prstGeom>
          <a:noFill/>
          <a:ln w="12700">
            <a:solidFill>
              <a:srgbClr val="DED8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18120" y="43616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 / 100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9966960" y="4443984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966960" y="44439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818120" y="48646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 does not fire — the wallet has exactly five downstream addresses, not six.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machine learning touches this score. Every indicator carries a transaction hash, a count or a time delta.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— WHERE IT BELONGS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finds leads. It never assigns a score.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1371600"/>
          </a:xfrm>
          <a:prstGeom prst="roundRect">
            <a:avLst>
              <a:gd name="adj" fmla="val 2000"/>
            </a:avLst>
          </a:prstGeom>
          <a:solidFill>
            <a:srgbClr val="3A2A12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739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LEAD SIGNAL — NOT A RISK SCORE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031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and DBSCAN over behavioural graph features. Unsupervised — no labelled fraud set is invented.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186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is kept off the score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675888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our own case the model flags the complainant — correctly, because they moved the largest single amount.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machine learning drove the risk score, the victim would be flagged as a suspect. That is now a test in the codebase.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1572768"/>
            <a:ext cx="5276088" cy="3794760"/>
          </a:xfrm>
          <a:prstGeom prst="roundRect">
            <a:avLst>
              <a:gd name="adj" fmla="val 723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75120" y="18470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IS EXPLAINED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2128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Seed Wallet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246888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count unusually above the peer average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8712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Dispersal Wallet 1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31272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count unusually above the peer average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5295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 Contract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78561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count unusually above the peer average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41879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Complainant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44439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value unusually above the peer average   ← risk score: 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488289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flag says “unlike its peers”. It never says “guilty”.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Paperwork an investigator can actually 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394960" cy="3657600"/>
          </a:xfrm>
          <a:prstGeom prst="roundRect">
            <a:avLst>
              <a:gd name="adj" fmla="val 75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47088"/>
            <a:ext cx="10058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47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860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63 BSA 2023 dossier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61488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certificate and case metadata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integrity register — SHA-256, browser and server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custody, entities, and every transfer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appendix carrying the evidence for each indicator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limitations, and a DSC signature block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773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pages, generated in under two seconds.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6208" y="1572768"/>
            <a:ext cx="5394960" cy="3657600"/>
          </a:xfrm>
          <a:prstGeom prst="roundRect">
            <a:avLst>
              <a:gd name="adj" fmla="val 75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84708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ONLY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2860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FIU-IND Suspicious Transaction Report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76148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STR field set, grounds of suspicion carried from the indicators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Reporting-entity fields left blank, never fabricated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recorded as NOT IDENTIFIED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37960" y="3904488"/>
            <a:ext cx="4791456" cy="1170432"/>
          </a:xfrm>
          <a:prstGeom prst="roundRect">
            <a:avLst>
              <a:gd name="adj" fmla="val 2344"/>
            </a:avLst>
          </a:prstGeom>
          <a:solidFill>
            <a:srgbClr val="FBEDEC"/>
          </a:solidFill>
          <a:ln w="12700">
            <a:solidFill>
              <a:srgbClr val="E8C4C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12280" y="405993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deliberately cannot file it.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4334256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4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FINnet has no public submission API, and filing requires registered Reporting Entity status. A test asserts no filing endpoint can exist in this codebase.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EVIDENCE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publish the digest. The proof outlives the server.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SHA-256 of each ingested file is written to a public blockchain. That record sits outside this system — so if the machine is later compromised, rebuilt, or its database rewritten, the fact that the file existed in that exact form still stands.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761488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27614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145536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digest existed at or before that block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cannot afterwards be revised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substituted document no longer matches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4315968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PROVE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created the document — anyone may anchor any digest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document is tamper-PROOF — only tamper-EVIDENT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55080" y="1572768"/>
            <a:ext cx="5276088" cy="3977640"/>
          </a:xfrm>
          <a:prstGeom prst="roundRect">
            <a:avLst>
              <a:gd name="adj" fmla="val 690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56832" y="1828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6F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EvidenceAnchor.sol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56832" y="2176272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anchor(bytes32 digest) external 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(_anchors[digest].blockNumber != 0)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revert AlreadyAnchored(...);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_anchors[digest] = Anchor({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blockTime:   uint64(block.timestamp),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blockNumber: uint64(block.number),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anchoredBy:  msg.sender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656832" y="4178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write wins.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56832" y="446227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Re-anchoring reverts rather than overwriting. The earliest record is the evidentially meaningful one, and silently replacing it would let a later party claim an earlier document’s timestamp.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is read-only and needs no credentials — anyone auditing the dossier can check the anchor without access to our systems.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OUR 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us a real address. It traces live.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B6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MAINNET TRACE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D9A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REPLAYED FROM CACHE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 PRE-TESTED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427464" y="170992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427464" y="24048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MERGED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3172968"/>
            <a:ext cx="5486400" cy="2103120"/>
          </a:xfrm>
          <a:prstGeom prst="roundRect">
            <a:avLst>
              <a:gd name="adj" fmla="val 130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4015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detail that decides whether live mode works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785616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proceeds in India move as USDT, not native ETH. A tool that queries only the transaction list returns almost nothing on a real scam wallet. We merge token transfers too — and scale by each token's own decimals.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3172968"/>
            <a:ext cx="5276088" cy="2103120"/>
          </a:xfrm>
          <a:prstGeom prst="roundRect">
            <a:avLst>
              <a:gd name="adj" fmla="val 130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56832" y="340156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venue wifi dies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656832" y="3785616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is cached to disk. A circuit breaker detects a dead network and serves cache immediately rather than retrying — 62 seconds of frozen screen became 7.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addresses are OFAC-designated contracts and publicly labelled exchange wallets — never a private individual's wallet.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FIT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competing with Chainalysis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tools trace chains. Indian investigators need chains joined to case files.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139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CHAINALYSIS / TRM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778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 MILK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4871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on-chain tracing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487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778240" y="2487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Bounded, explainable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9443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attribution at scale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core asset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curated list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3649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4015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bank / UPI evidence (UTR, FIR)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3401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3401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38221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3858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off-chain records to on-chain flow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38587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78240" y="38587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42793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4315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63 BSA 2023 dossier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43159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778240" y="43159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47365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47731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recomputable by hand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760720" y="4773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4773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published rules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51937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303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data stays in the police network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760720" y="5230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SaaS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5230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57200" y="56509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56875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a district cyber cell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760720" y="5687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licence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8778240" y="5687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open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Chainalysis is better at tracing a blockchain than we will ever be. It will not read an SBI statement, and it runs outside India.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exists today — and what a pilot would measure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384048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2880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288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4942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watch every one of these happen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70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entities, 17 transfers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6700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case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1272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rules, every score reproducible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31272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hand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5844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→ 12%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5844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correctly avoided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0416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10 seconds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0416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mainnet trace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4988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the network unplugged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0" y="44988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956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49560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55080" y="1572768"/>
            <a:ext cx="5276088" cy="384048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56832" y="182880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56832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CLAIMED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656832" y="224942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not deployed this. These are the questions an authorised pilot answers.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2944368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from ingestion to a draft dossier, against the current manual process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of flagged entities an officer judges worth pursuing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 against cases with a known outcome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Section 63 output is accepted without rework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take this from prototype to pilot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Authorised pilot data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number of closed cases with a known outcome, so false positives can actually be measured rather than assumed.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36008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36008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guidance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that the Section 63 dossier format and the STR draft match what FIU-IND and the courts expect.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9872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0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Investigator mentorship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with officers who work these cases, to learn which of our indicators are useful and which are noise.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is written and tested. What it needs next is contact with real cases and the officers who work them.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3291840"/>
            <a:ext cx="5669280" cy="5669280"/>
          </a:xfrm>
          <a:prstGeom prst="ellipse">
            <a:avLst/>
          </a:prstGeom>
          <a:solidFill>
            <a:srgbClr val="8B6FD4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colour never disappears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blockchain already holds the trail. The bank already holds the UTR. What has been missing is the map between them — and a document a court will accept at the end of it.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B6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Violet Milk is that map.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983480"/>
            <a:ext cx="2743200" cy="0"/>
          </a:xfrm>
          <a:prstGeom prst="line">
            <a:avLst/>
          </a:prstGeom>
          <a:noFill/>
          <a:ln w="12700">
            <a:solidFill>
              <a:srgbClr val="3A33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1389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Pranshu  ·  B.Tech Cybersecurity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4498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build · synthetic case data · analytical leads, not findings of guilt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Violet Milk</dc:title>
  <dc:subject>PptxGenJS Presentation</dc:subject>
  <dc:creator>Project Violet Milk</dc:creator>
  <cp:lastModifiedBy>Project Violet Milk</cp:lastModifiedBy>
  <cp:revision>1</cp:revision>
  <dcterms:created xsi:type="dcterms:W3CDTF">2026-09-06T07:37:56Z</dcterms:created>
  <dcterms:modified xsi:type="dcterms:W3CDTF">2026-09-06T07:37:56Z</dcterms:modified>
</cp:coreProperties>
</file>
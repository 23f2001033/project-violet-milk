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by naming what this is: working software, not a concept. Everything shown today runs on this laptop with the network unplugged.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claim the tracing itself is unsolved - it isn't. The credible gap is the join to Indian case material and the statutory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analogy earns its place only because the percentages are actually computed. Move quickly to the real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reproducibility: this matters for Section 63.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separates us from a hackathon demo. Overstating an inferred link is exactly what gets forensic software thrown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why not ML here: Section 63 requires explaining how the output was produced. Arithmetic can be explained to a court.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XGBoost is deliberately absent: it is supervised and needs labelled fraud wallets, which do not exist for this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filing limitation before anyone asks. It earns more credit than the button ever would.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limit out loud: detectable, not impossible. Then point at the anchoring slide, which is what closes that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limits before anyone asks. An anchor is an existence-and-time proof, not an authorship proof. Saying so is what makes the rest credible - and no other team will have this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offered a random address, trace it. If it fails, say why: bounds, or no token activity. Do not pretend.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claim they lack multi-hop tracing - it is their core product and a judge may know it. Data sovereignty and cost are the real wins.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creates the need for the ask. Do not claim outcomes we have not measured - one question about methodology and it collapses.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limitation, not the boast. It is what makes the rest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66760" y="1051560"/>
            <a:ext cx="3200400" cy="3200400"/>
          </a:xfrm>
          <a:prstGeom prst="ellipse">
            <a:avLst/>
          </a:prstGeom>
          <a:solidFill>
            <a:srgbClr val="8B6FD4">
              <a:alpha val="12000"/>
            </a:srgbClr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15400" y="1600200"/>
            <a:ext cx="2103120" cy="2103120"/>
          </a:xfrm>
          <a:prstGeom prst="ellipse">
            <a:avLst/>
          </a:prstGeom>
          <a:solidFill>
            <a:srgbClr val="8B6FD4">
              <a:alpha val="2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464040" y="2148840"/>
            <a:ext cx="1005840" cy="1005840"/>
          </a:xfrm>
          <a:prstGeom prst="ellipse">
            <a:avLst/>
          </a:prstGeom>
          <a:solidFill>
            <a:srgbClr val="8B6FD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CHANDIGARH POLICE CYBER CRIME HACKATHON  ·  8 SEPTEMBER 2026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627632"/>
            <a:ext cx="7498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Violet Milk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974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crypto-enabled fraud from the victim's bank account to the wallet — and producing the paperwork an Indian court will accept.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3794760"/>
            <a:ext cx="182880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SOFTWARE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51760" y="3794760"/>
            <a:ext cx="182880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5176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183 TESTS PASSING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17720" y="3794760"/>
            <a:ext cx="155448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901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17720" y="3794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OFFLINE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892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Pranshu  ·  B.Tech Cybersecurity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212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 build · all case identities synthetic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money is traceable. The case file isn't.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84048" cy="38404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3856" y="1572768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Victim reports to 1930 / NCRP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33856" y="188366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FIR is registered with a bank UTR and a timestamp.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596896"/>
            <a:ext cx="384048" cy="38404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33856" y="2542032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convert to USDT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33856" y="285292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minutes, via an exchange or a P2P counterparty.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3566160"/>
            <a:ext cx="384048" cy="38404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33856" y="351129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Dispersal across wallets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33856" y="382219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Mixers, bridges, dozens of hops — all publicly recorded.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535424"/>
            <a:ext cx="384048" cy="38404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33856" y="448056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investigator stops here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33856" y="479145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 joins the bank record to the chain, and none produces a Sec 63 certificate.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635240" y="1572768"/>
            <a:ext cx="3977640" cy="3657600"/>
          </a:xfrm>
          <a:prstGeom prst="roundRect">
            <a:avLst>
              <a:gd name="adj" fmla="val 750"/>
            </a:avLst>
          </a:prstGeom>
          <a:solidFill>
            <a:srgbClr val="ECE7F6"/>
          </a:solidFill>
          <a:ln w="12700">
            <a:solidFill>
              <a:srgbClr val="D5CCE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55280" y="189280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44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is not tracing.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7955280" y="2532888"/>
            <a:ext cx="3383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analytics firms already trace chains extremely well.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 tool does is read an Indian bank statement, understand a UTR, join it to the on-chain flow, and emit a Section 63 BSA 2023 evidence dossier.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join is the whole product.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ANALOGY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Violet milk in a hundred utensils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violet milk into one vessel, then split it across a hundred more. The colour never disappears — you can still measure how much violet is in each.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48716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Violet milk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248716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023360" y="248716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Traced fraud proceeds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14553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hundred utensils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314553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31455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 across the chain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80390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with clean milk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380390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380390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Mixers, tumblers, liquidity pools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46227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never disappears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446227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23360" y="446227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is immutable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51206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the shade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51206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023360" y="51206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Illicit percentage per wallet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772400" y="1572768"/>
            <a:ext cx="3840480" cy="3931920"/>
          </a:xfrm>
          <a:prstGeom prst="roundRect">
            <a:avLst>
              <a:gd name="adj" fmla="val 71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92440" y="18470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METAPHOR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092440" y="2286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wallet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0" y="223113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8092440" y="2615184"/>
            <a:ext cx="3200400" cy="146304"/>
          </a:xfrm>
          <a:prstGeom prst="roundRect">
            <a:avLst>
              <a:gd name="adj" fmla="val 12500"/>
            </a:avLst>
          </a:prstGeom>
          <a:solidFill>
            <a:srgbClr val="251F34"/>
          </a:solidFill>
          <a:ln/>
        </p:spPr>
      </p:sp>
      <p:sp>
        <p:nvSpPr>
          <p:cNvPr id="25" name="Shape 23"/>
          <p:cNvSpPr/>
          <p:nvPr/>
        </p:nvSpPr>
        <p:spPr>
          <a:xfrm>
            <a:off x="8092440" y="2615184"/>
            <a:ext cx="3200400" cy="146304"/>
          </a:xfrm>
          <a:prstGeom prst="roundRect">
            <a:avLst>
              <a:gd name="adj" fmla="val 12500"/>
            </a:avLst>
          </a:prstGeom>
          <a:solidFill>
            <a:srgbClr val="E5484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92440" y="3246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one hop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0" y="319125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E590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8092440" y="3575304"/>
            <a:ext cx="3200400" cy="146304"/>
          </a:xfrm>
          <a:prstGeom prst="roundRect">
            <a:avLst>
              <a:gd name="adj" fmla="val 12500"/>
            </a:avLst>
          </a:prstGeom>
          <a:solidFill>
            <a:srgbClr val="251F34"/>
          </a:solidFill>
          <a:ln/>
        </p:spPr>
      </p:sp>
      <p:sp>
        <p:nvSpPr>
          <p:cNvPr id="29" name="Shape 27"/>
          <p:cNvSpPr/>
          <p:nvPr/>
        </p:nvSpPr>
        <p:spPr>
          <a:xfrm>
            <a:off x="8092440" y="3575304"/>
            <a:ext cx="1920240" cy="146304"/>
          </a:xfrm>
          <a:prstGeom prst="roundRect">
            <a:avLst>
              <a:gd name="adj" fmla="val 12500"/>
            </a:avLst>
          </a:prstGeom>
          <a:solidFill>
            <a:srgbClr val="E5901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092440" y="4206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a clean pool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058400" y="415137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3D9A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12%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8092440" y="4535424"/>
            <a:ext cx="3200400" cy="146304"/>
          </a:xfrm>
          <a:prstGeom prst="roundRect">
            <a:avLst>
              <a:gd name="adj" fmla="val 12500"/>
            </a:avLst>
          </a:prstGeom>
          <a:solidFill>
            <a:srgbClr val="251F34"/>
          </a:solidFill>
          <a:ln/>
        </p:spPr>
      </p:sp>
      <p:sp>
        <p:nvSpPr>
          <p:cNvPr id="33" name="Shape 31"/>
          <p:cNvSpPr/>
          <p:nvPr/>
        </p:nvSpPr>
        <p:spPr>
          <a:xfrm>
            <a:off x="8092440" y="4535424"/>
            <a:ext cx="411480" cy="146304"/>
          </a:xfrm>
          <a:prstGeom prst="roundRect">
            <a:avLst>
              <a:gd name="adj" fmla="val 12500"/>
            </a:avLst>
          </a:prstGeom>
          <a:solidFill>
            <a:srgbClr val="3D9A6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92440" y="50932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 falls below the 30% reporting threshold — so the pool is correctly NOT flagged.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engines, one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47088"/>
            <a:ext cx="457200" cy="457200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35608" y="190195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871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or wallet CSV, hashed in the browser, parsed and merged into the case graph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57276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9432" y="1847088"/>
            <a:ext cx="457200" cy="457200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190195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99432" y="24871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graph traversal — depth, amount, time and fan-out capped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19872" y="157276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75904" y="1847088"/>
            <a:ext cx="457200" cy="457200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590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988552" y="190195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DILUTE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375904" y="24871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Proportional haircut, replayed in strict timestamp order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72160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3995928"/>
            <a:ext cx="457200" cy="45720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435608" y="405079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6360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deterministic rules, each carrying its own evidence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343400" y="372160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99432" y="3995928"/>
            <a:ext cx="457200" cy="457200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99432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212080" y="405079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4599432" y="46360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Timeline, risk breakdown, confirmed versus inferred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119872" y="372160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5904" y="3995928"/>
            <a:ext cx="457200" cy="457200"/>
          </a:xfrm>
          <a:prstGeom prst="ellipse">
            <a:avLst/>
          </a:prstGeom>
          <a:solidFill>
            <a:srgbClr val="3D9A6D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75904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988552" y="405079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8375904" y="46360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63 BSA dossier and a draft FIU-IND STR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is deterministic and reproducible. The same case yields the same result every run — including on stage.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INTELLECTUAL HONESTY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 and inferred are never drawn alike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394960" cy="3200400"/>
          </a:xfrm>
          <a:prstGeom prst="roundRect">
            <a:avLst>
              <a:gd name="adj" fmla="val 857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65376"/>
            <a:ext cx="146304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3500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on the blockchain or in a bank record.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68680" y="2944368"/>
            <a:ext cx="4754880" cy="0"/>
          </a:xfrm>
          <a:prstGeom prst="line">
            <a:avLst/>
          </a:prstGeom>
          <a:noFill/>
          <a:ln w="31750">
            <a:solidFill>
              <a:srgbClr val="3D9A6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31272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as a solid edge. 16 of 17 transfers in the demo case.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76732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transaction hash, a block number, or a UTR sits behind every one.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6208" y="1572768"/>
            <a:ext cx="5394960" cy="3200400"/>
          </a:xfrm>
          <a:prstGeom prst="roundRect">
            <a:avLst>
              <a:gd name="adj" fmla="val 857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37960" y="1865376"/>
            <a:ext cx="146304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D9B21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3796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B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INFERRED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3500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hypothesis. Not a proven transfer.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37960" y="2944368"/>
            <a:ext cx="4754880" cy="0"/>
          </a:xfrm>
          <a:prstGeom prst="line">
            <a:avLst/>
          </a:prstGeom>
          <a:noFill/>
          <a:ln w="31750">
            <a:solidFill>
              <a:srgbClr val="D9B21C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6537960" y="31272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as a dashed edge. Exactly 1 in the demo case.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376732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UPI debit and an exchange deposit 13 seconds apart is a strong lead — it is not evidence that the two are the same money.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5001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court dossier lists the two categories separately, and says so on the page.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rules an officer can recompute by hand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5727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Proximity to the seed cluster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5727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1214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214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dispersal — outbound under 4 minutes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2140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6700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700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Mixer contract interaction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6700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2186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2186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Cross-chain bridge exposure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21868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37673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767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Fan-out beyond five downstream addresses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7673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3159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3159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Structuring below a reporting threshold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43159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48646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864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correlation with the victim's bank debit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486460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498080" y="1572768"/>
            <a:ext cx="4114800" cy="3840480"/>
          </a:xfrm>
          <a:prstGeom prst="roundRect">
            <a:avLst>
              <a:gd name="adj" fmla="val 714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818120" y="18470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7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18120" y="213969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0xa7f3…67e9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818120" y="259689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412480" y="259689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818120" y="298094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298094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818120" y="336499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R3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412480" y="336499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818120" y="374904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37490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818120" y="4242816"/>
            <a:ext cx="3474720" cy="0"/>
          </a:xfrm>
          <a:prstGeom prst="line">
            <a:avLst/>
          </a:prstGeom>
          <a:noFill/>
          <a:ln w="12700">
            <a:solidFill>
              <a:srgbClr val="DED8E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818120" y="436168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 / 100</a:t>
            </a:r>
            <a:endParaRPr lang="en-US" sz="2800" dirty="0"/>
          </a:p>
        </p:txBody>
      </p:sp>
      <p:sp>
        <p:nvSpPr>
          <p:cNvPr id="38" name="Shape 36"/>
          <p:cNvSpPr/>
          <p:nvPr/>
        </p:nvSpPr>
        <p:spPr>
          <a:xfrm>
            <a:off x="9966960" y="4443984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966960" y="44439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818120" y="48646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 does not fire — the wallet has exactly five downstream addresses, not six.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machine learning touches this score. Every indicator carries a transaction hash, a count or a time delta.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— WHERE IT BELONGS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finds leads. It never assigns a score.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486400" cy="1371600"/>
          </a:xfrm>
          <a:prstGeom prst="roundRect">
            <a:avLst>
              <a:gd name="adj" fmla="val 2000"/>
            </a:avLst>
          </a:prstGeom>
          <a:solidFill>
            <a:srgbClr val="3A2A12"/>
          </a:solidFill>
          <a:ln w="12700">
            <a:solidFill>
              <a:srgbClr val="E5901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7393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LEAD SIGNAL — NOT A RISK SCORE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031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and DBSCAN over behavioural graph features. Unsupervised — no labelled fraud set is invented.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186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is kept off the score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675888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our own case the model flags the complainant — correctly, because they moved the largest single amount.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machine learning drove the risk score, the victim would be flagged as a suspect. That is now a test in the codebase.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55080" y="1572768"/>
            <a:ext cx="5276088" cy="3794760"/>
          </a:xfrm>
          <a:prstGeom prst="roundRect">
            <a:avLst>
              <a:gd name="adj" fmla="val 723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75120" y="18470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IS EXPLAINED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221284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Seed Wallet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246888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count unusually above the peer average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287121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Dispersal Wallet 1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312724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count unusually above the peer average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352958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Mixer Contract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78561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count unusually above the peer average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41879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Complainant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444398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value unusually above the peer average   ← risk score: 0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488289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flag says “unlike its peers”. It never says “guilty”.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Paperwork an investigator can actually file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394960" cy="3657600"/>
          </a:xfrm>
          <a:prstGeom prst="roundRect">
            <a:avLst>
              <a:gd name="adj" fmla="val 75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47088"/>
            <a:ext cx="100584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47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28600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63 BSA 2023 dossier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61488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Statutory certificate and case metadata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integrity register — SHA-256, browser and server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of custody, entities, and every transfer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appendix carrying the evidence for each indicator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limitations, and a DSC signature block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7731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pages, generated in under two seconds.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36208" y="1572768"/>
            <a:ext cx="5394960" cy="3657600"/>
          </a:xfrm>
          <a:prstGeom prst="roundRect">
            <a:avLst>
              <a:gd name="adj" fmla="val 75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847088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ONLY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28600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FIU-IND Suspicious Transaction Report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761488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STR field set, grounds of suspicion carried from the indicators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Reporting-entity fields left blank, never fabricated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recorded as NOT IDENTIFIED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37960" y="3904488"/>
            <a:ext cx="4791456" cy="1170432"/>
          </a:xfrm>
          <a:prstGeom prst="roundRect">
            <a:avLst>
              <a:gd name="adj" fmla="val 2344"/>
            </a:avLst>
          </a:prstGeom>
          <a:solidFill>
            <a:srgbClr val="FBEDEC"/>
          </a:solidFill>
          <a:ln w="12700">
            <a:solidFill>
              <a:srgbClr val="E8C4C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12280" y="405993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deliberately cannot file it.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4334256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4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FINnet has no public submission API, and filing requires registered Reporting Entity status. A test asserts no filing endpoint can exist in this codebase.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OF CUSTODY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audit trail is only worth what its identity is worth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486400" cy="3749040"/>
          </a:xfrm>
          <a:prstGeom prst="roundRect">
            <a:avLst>
              <a:gd name="adj" fmla="val 732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28800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26771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officer name was a form field.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70048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on the network could file evidence as any officer, and the log sat in a database file that any client could edit without trace.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custody record that the caller supplies, in a table the caller can rewrite, is not a custody record. It is the legal spine of the dossier, so that mattered more than any feature.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55080" y="1572768"/>
            <a:ext cx="5276088" cy="3749040"/>
          </a:xfrm>
          <a:prstGeom prst="roundRect">
            <a:avLst>
              <a:gd name="adj" fmla="val 732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56832" y="1828800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56832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656832" y="2304288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requires a signed-in officer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comes from the session, never the request body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entry commits to the one before it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Editing, reordering or deleting any row breaks every later link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656832" y="405993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6F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entry_hash = SHA256(prev_hash | id | time | user | action | target)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656832" y="4535424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makes tampering DETECTABLE, not impossible. Only an append-only store or external notarisation prevents it — which is what the anchoring does.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 files evidence as ‘IO_IMPOSTER’ and asserts the log still names the officer who was actually signed in.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EVIDENCE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publish the digest. The proof outlives the server.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SHA-256 of each ingested file is written to a public blockchain. That record sits outside this system — so if the machine is later compromised, rebuilt, or its database rewritten, the fact that the file existed in that exact form still stands.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761488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27614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145536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digest existed at or before that block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 cannot afterwards be revised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substituted document no longer matches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4315968"/>
            <a:ext cx="182880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PROVE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created the document — anyone may anchor any digest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the document is tamper-PROOF — only tamper-EVIDENT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55080" y="1572768"/>
            <a:ext cx="5276088" cy="3977640"/>
          </a:xfrm>
          <a:prstGeom prst="roundRect">
            <a:avLst>
              <a:gd name="adj" fmla="val 690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56832" y="18288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6F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EvidenceAnchor.sol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656832" y="2176272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anchor(bytes32 digest) external {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(_anchors[digest].blockNumber != 0)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revert AlreadyAnchored(...);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_anchors[digest] = Anchor({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blockTime:   uint64(block.timestamp),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blockNumber: uint64(block.number),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anchoredBy:  msg.sender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});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656832" y="41788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write wins.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656832" y="4462272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Re-anchoring reverts rather than overwriting. The earliest record is the evidentially meaningful one, and silently replacing it would let a later party claim an earlier document’s timestamp.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is read-only and needs no credentials — anyone auditing the dossier can check the anchor without access to our systems.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OUR DATA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 us a real address. It picks the chain itself.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9928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B6F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4048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SUPPORTED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520440" y="1709928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D9A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24048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REPLAYED FROM CACHE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709928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24048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DETECTION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9427464" y="170992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9427464" y="240487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MERGED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" y="3172968"/>
            <a:ext cx="5486400" cy="2103120"/>
          </a:xfrm>
          <a:prstGeom prst="roundRect">
            <a:avLst>
              <a:gd name="adj" fmla="val 130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4015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is not where the money goes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785616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fraud proceeds move as USDT on TRON, where a transfer costs cents. Paste 0x… and we read Ethereum; paste T… and we read Tron. The investigator never declares a chain.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55080" y="3172968"/>
            <a:ext cx="5276088" cy="2103120"/>
          </a:xfrm>
          <a:prstGeom prst="roundRect">
            <a:avLst>
              <a:gd name="adj" fmla="val 130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56832" y="340156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Tron, “USDT” is not proof of USDT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656832" y="3785616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deploy a token whose ticker reads USDT, and scammers do — to poison analysis. We verify the CONTRACT, never the symbol. On our first live trace that caught a 7.5-trillion fake transfer.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response is cached, so a pre-tested address still traces with the network unplugged. Demo addresses are OFAC-designated contracts and publicly labelled exchange wallets — never a private individual's.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FIT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not competing with Chainalysis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tools trace chains. Indian investigators need chains joined to case files.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1396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7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21396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7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CHAINALYSIS / TRM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778240" y="21396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VIOLET MILK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4871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on-chain tracing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24871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778240" y="24871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Bounded, explainable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9443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attribution at scale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944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core asset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778240" y="2944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curated list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3649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4015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bank / UPI evidence (UTR, FIR)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34015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778240" y="34015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38221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38587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off-chain records to on-chain flow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760720" y="38587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778240" y="38587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42793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43159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63 BSA 2023 dossier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760720" y="43159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778240" y="43159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57200" y="47365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47731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recomputable by hand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760720" y="47731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778240" y="47731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published rules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57200" y="51937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52303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data stays in the police network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760720" y="5230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 SaaS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5230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57200" y="56509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56875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a district cyber cell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760720" y="56875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licence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8778240" y="56875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open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Chainalysis is better at tracing a blockchain than we will ever be. It will not read an SBI statement, and it runs outside India.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exists today — and what a pilot would measure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486400" cy="3840480"/>
          </a:xfrm>
          <a:prstGeom prst="roundRect">
            <a:avLst>
              <a:gd name="adj" fmla="val 71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28800"/>
            <a:ext cx="118872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288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24942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watch every one of these happen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700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chains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26700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and Tron, auto-detected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1272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rules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31272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score reproducible by hand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5844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→ 12%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35844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 correctly avoided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0416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 custody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40416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tampering is detectable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4988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the network unplugged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114800" y="44988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rehearsed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49560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 tests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114800" y="49560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endpoints, 10,884 lines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55080" y="1572768"/>
            <a:ext cx="5276088" cy="3840480"/>
          </a:xfrm>
          <a:prstGeom prst="roundRect">
            <a:avLst>
              <a:gd name="adj" fmla="val 71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56832" y="1828800"/>
            <a:ext cx="182880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901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56832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CLAIMED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656832" y="2249424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not deployed this. These are the questions an authorised pilot answers.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656832" y="2944368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from ingestion to a draft dossier, against the current manual process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 of flagged entities an officer judges worth pursuing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False-positive rate against cases with a known outcome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Section 63 output is accepted without rework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to take this from prototype to pilot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20440" cy="3200400"/>
          </a:xfrm>
          <a:prstGeom prst="roundRect">
            <a:avLst>
              <a:gd name="adj" fmla="val 857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" y="1920240"/>
            <a:ext cx="566928" cy="56692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59536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26517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Authorised pilot data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3328416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number of closed cases with a known outcome, so false positives can actually be measured rather than assumed.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572768"/>
            <a:ext cx="3520440" cy="3200400"/>
          </a:xfrm>
          <a:prstGeom prst="roundRect">
            <a:avLst>
              <a:gd name="adj" fmla="val 857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36008" y="1920240"/>
            <a:ext cx="566928" cy="56692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36008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636008" y="26517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guidance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636008" y="3328416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that the Section 63 dossier format and the STR draft match what FIU-IND and the courts expect.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19872" y="1572768"/>
            <a:ext cx="3520440" cy="3200400"/>
          </a:xfrm>
          <a:prstGeom prst="roundRect">
            <a:avLst>
              <a:gd name="adj" fmla="val 857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1920240"/>
            <a:ext cx="566928" cy="56692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0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6517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Investigator mentorship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3328416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with officers who work these cases, to learn which of our indicators are useful and which are noise.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software is written and tested. What it needs next is contact with real cases and the officers who work them.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3291840"/>
            <a:ext cx="5669280" cy="5669280"/>
          </a:xfrm>
          <a:prstGeom prst="ellipse">
            <a:avLst/>
          </a:prstGeom>
          <a:solidFill>
            <a:srgbClr val="8B6FD4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colour never disappears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blockchain already holds the trail. The bank already holds the UTR. What has been missing is the map between them — and a document a court will accept at the end of it.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B6F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Violet Milk is that map.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4983480"/>
            <a:ext cx="2743200" cy="0"/>
          </a:xfrm>
          <a:prstGeom prst="line">
            <a:avLst/>
          </a:prstGeom>
          <a:noFill/>
          <a:ln w="12700">
            <a:solidFill>
              <a:srgbClr val="3A335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1389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Pranshu  ·  B.Tech Cybersecurity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4498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 build · synthetic case data · analytical leads, not findings of guilt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7424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6F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github.com/23f2001033/project-violet-milk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Violet Milk</dc:title>
  <dc:subject>PptxGenJS Presentation</dc:subject>
  <dc:creator>Project Violet Milk</dc:creator>
  <cp:lastModifiedBy>Project Violet Milk</cp:lastModifiedBy>
  <cp:revision>1</cp:revision>
  <dcterms:created xsi:type="dcterms:W3CDTF">2026-09-06T10:50:39Z</dcterms:created>
  <dcterms:modified xsi:type="dcterms:W3CDTF">2026-09-06T10:50:39Z</dcterms:modified>
</cp:coreProperties>
</file>
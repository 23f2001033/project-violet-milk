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what this is: working software, not a concept. Everything shown today runs on this laptop with the network unplugged.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the tracing itself is unsolved - it isn't. The credible gap is the join to Indian case material and the statutory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analogy earns its place only because the percentages are actually computed. Move quickly to the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reproducibility: this matters for Section 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from a hackathon demo. Overstating an inferred link is exactly what gets forensic software thrown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ML here: Section 63 requires explaining how the output was produced. Arithmetic can be explained to a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is deliberately absent: it is supervised and needs labelled fraud wallets, which do not exist for this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filing limitation before anyone asks. It earns more credit than the button ever would.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 out loud: detectable, not impossible. Then point at the anchoring slide, which is what closes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limits before anyone asks. An anchor is an existence-and-time proof, not an authorship proof. Saying so is what makes the rest credible - and no other team will have this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offered a random address, trace it. If it fails, say why: bounds, or no token activity. Do not pretend.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claim they lack multi-hop tracing - it is their core product and a judge may know it. Data sovereignty and cost are the real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creates the need for the ask. Do not claim outcomes we have not measured - one question about methodology and it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limitation, not the boast. It is what makes the rest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051560"/>
            <a:ext cx="3200400" cy="3200400"/>
          </a:xfrm>
          <a:prstGeom prst="ellipse">
            <a:avLst/>
          </a:prstGeom>
          <a:solidFill>
            <a:srgbClr val="8B6FD4">
              <a:alpha val="12000"/>
            </a:srgbClr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600200"/>
            <a:ext cx="2103120" cy="2103120"/>
          </a:xfrm>
          <a:prstGeom prst="ellipse">
            <a:avLst/>
          </a:prstGeom>
          <a:solidFill>
            <a:srgbClr val="8B6FD4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148840"/>
            <a:ext cx="1005840" cy="1005840"/>
          </a:xfrm>
          <a:prstGeom prst="ellipse">
            <a:avLst/>
          </a:prstGeom>
          <a:solidFill>
            <a:srgbClr val="8B6F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POLICE CYBER CRIME HACKATHON  ·  8 SEPTEMBER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27632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Violet Milk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crypto-enabled fraud from the victim's bank account to the wallet — and producing the paperwork an Indian court will accept.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7947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TESTS PASSING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37947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90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Pranshu  ·  B.Tech Cybersecurity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build · all case identities synthetic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is traceable. The case file isn't.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reports to 1930 / NCRP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8836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FIR is registered with a bank UTR and a timestamp.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5420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convert to USDT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8529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minutes, via an exchange or a P2P counterparty.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5112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Dispersal across wallets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822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Mixers, bridges, dozens of hops — all publicly recorded.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44805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 stops here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7914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joins the bank record to the chain, and none produces a Sec 63 certificate.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1572768"/>
            <a:ext cx="3977640" cy="3657600"/>
          </a:xfrm>
          <a:prstGeom prst="roundRect">
            <a:avLst>
              <a:gd name="adj" fmla="val 750"/>
            </a:avLst>
          </a:prstGeom>
          <a:solidFill>
            <a:srgbClr val="ECE7F6"/>
          </a:solidFill>
          <a:ln w="12700">
            <a:solidFill>
              <a:srgbClr val="D5CC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1892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not tracing.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532888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analytics firms already trace chains extremely well.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tool does is read an Indian bank statement, understand a UTR, join it to the on-chain flow, and emit a Section 63 BSA 2023 evidence dossier.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join is the whole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Violet milk in a hundred utensils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violet milk into one vessel, then split it across a hundred more. The colour never disappears — you can still measure how much violet is in each.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milk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24871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487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fraud proceeds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45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utensils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1455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1455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across the chain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03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with clean milk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03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8039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Mixers, tumblers, liquidity pools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462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never disappears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462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is immutable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shade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120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120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Illicit percentage per wallet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1572768"/>
            <a:ext cx="3840480" cy="3931920"/>
          </a:xfrm>
          <a:prstGeom prst="roundRect">
            <a:avLst>
              <a:gd name="adj" fmla="val 714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METAPHOR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wallet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2231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092440" y="2615184"/>
            <a:ext cx="3200400" cy="146304"/>
          </a:xfrm>
          <a:prstGeom prst="roundRect">
            <a:avLst>
              <a:gd name="adj" fmla="val 12500"/>
            </a:avLst>
          </a:prstGeom>
          <a:solidFill>
            <a:srgbClr val="251F34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2615184"/>
            <a:ext cx="3200400" cy="146304"/>
          </a:xfrm>
          <a:prstGeom prst="roundRect">
            <a:avLst>
              <a:gd name="adj" fmla="val 12500"/>
            </a:avLst>
          </a:prstGeom>
          <a:solidFill>
            <a:srgbClr val="E548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hop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1912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59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92440" y="3575304"/>
            <a:ext cx="3200400" cy="146304"/>
          </a:xfrm>
          <a:prstGeom prst="roundRect">
            <a:avLst>
              <a:gd name="adj" fmla="val 12500"/>
            </a:avLst>
          </a:prstGeom>
          <a:solidFill>
            <a:srgbClr val="251F34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3575304"/>
            <a:ext cx="1920240" cy="146304"/>
          </a:xfrm>
          <a:prstGeom prst="roundRect">
            <a:avLst>
              <a:gd name="adj" fmla="val 12500"/>
            </a:avLst>
          </a:prstGeom>
          <a:solidFill>
            <a:srgbClr val="E5901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9244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clean pool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41513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D9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8092440" y="4535424"/>
            <a:ext cx="3200400" cy="146304"/>
          </a:xfrm>
          <a:prstGeom prst="roundRect">
            <a:avLst>
              <a:gd name="adj" fmla="val 12500"/>
            </a:avLst>
          </a:prstGeom>
          <a:solidFill>
            <a:srgbClr val="251F34"/>
          </a:solidFill>
          <a:ln/>
        </p:spPr>
      </p:sp>
      <p:sp>
        <p:nvSpPr>
          <p:cNvPr id="33" name="Shape 31"/>
          <p:cNvSpPr/>
          <p:nvPr/>
        </p:nvSpPr>
        <p:spPr>
          <a:xfrm>
            <a:off x="8092440" y="4535424"/>
            <a:ext cx="411480" cy="146304"/>
          </a:xfrm>
          <a:prstGeom prst="roundRect">
            <a:avLst>
              <a:gd name="adj" fmla="val 12500"/>
            </a:avLst>
          </a:prstGeom>
          <a:solidFill>
            <a:srgbClr val="3D9A6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5093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falls below the 30% reporting threshold — so the pool is correctly NOT flagged.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engines, one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or wallet CSV, hashed in the browser, parsed and merged into the case graph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847088"/>
            <a:ext cx="457200" cy="457200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graph traversal — depth, amount, time and fan-out capped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57276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1847088"/>
            <a:ext cx="457200" cy="457200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88552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haircut, replayed in strict timestamp order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2160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050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36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deterministic rules, each carrying its own evidence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72160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995928"/>
            <a:ext cx="457200" cy="457200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50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36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risk breakdown, confirmed versus inferred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3721608"/>
            <a:ext cx="352044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904" y="3995928"/>
            <a:ext cx="457200" cy="457200"/>
          </a:xfrm>
          <a:prstGeom prst="ellipse">
            <a:avLst/>
          </a:prstGeom>
          <a:solidFill>
            <a:srgbClr val="3D9A6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75904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4050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636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63 BSA dossier and a draft FIU-IND STR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deterministic and reproducible. The same case yields the same result every run — including on stage.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and inferred are never drawn alike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3200400"/>
          </a:xfrm>
          <a:prstGeom prst="roundRect">
            <a:avLst>
              <a:gd name="adj" fmla="val 857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the blockchain or in a bank record.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44368"/>
            <a:ext cx="4754880" cy="0"/>
          </a:xfrm>
          <a:prstGeom prst="line">
            <a:avLst/>
          </a:prstGeom>
          <a:noFill/>
          <a:ln w="31750">
            <a:solidFill>
              <a:srgbClr val="3D9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a solid edge. 16 of 17 transfers in the demo case.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67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hash, a block number, or a UTR sits behind every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3200400"/>
          </a:xfrm>
          <a:prstGeom prst="roundRect">
            <a:avLst>
              <a:gd name="adj" fmla="val 857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6537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D9B2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hypothesis. Not a proven transfer.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2944368"/>
            <a:ext cx="4754880" cy="0"/>
          </a:xfrm>
          <a:prstGeom prst="line">
            <a:avLst/>
          </a:prstGeom>
          <a:noFill/>
          <a:ln w="31750">
            <a:solidFill>
              <a:srgbClr val="D9B21C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53796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a dashed edge. Exactly 1 in the demo case.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7673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UPI debit and an exchange deposit 13 seconds apart is a strong lead — it is not evidence that the two are the same money.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001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dossier lists the two categories separately, and says so on the page.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rules an officer can recompute by hand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the seed cluster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72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dispersal — outbound under 4 minutes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700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 contract interaction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70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18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bridge exposure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18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767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67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beyond five downstream addresses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315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below a reporting threshold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864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correlation with the victim's bank debit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572768"/>
            <a:ext cx="4114800" cy="384048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139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0xa7f3…67e9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25968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25968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29809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29809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33649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3364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3749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749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4242816"/>
            <a:ext cx="3474720" cy="0"/>
          </a:xfrm>
          <a:prstGeom prst="line">
            <a:avLst/>
          </a:prstGeom>
          <a:noFill/>
          <a:ln w="12700">
            <a:solidFill>
              <a:srgbClr val="DED8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18120" y="4361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/ 100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9966960" y="44439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66960" y="4443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48646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does not fire — the wallet has exactly five downstream addresses, not six.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touches this score. Every indicator carries a transaction hash, a count or a time delta.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WHERE IT BELONGS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finds leads. It never assigns a score.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86400" cy="1371600"/>
          </a:xfrm>
          <a:prstGeom prst="roundRect">
            <a:avLst>
              <a:gd name="adj" fmla="val 2000"/>
            </a:avLst>
          </a:prstGeom>
          <a:solidFill>
            <a:srgbClr val="3A2A12"/>
          </a:solidFill>
          <a:ln w="12700">
            <a:solidFill>
              <a:srgbClr val="E590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73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LEAD SIGNAL — NOT A RISK SCORE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DBSCAN over behavioural graph features. Unsupervised — no labelled fraud set is invented.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kept off the score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67588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case the model flags the complainant — correctly, because they moved the largest single amount.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machine learning drove the risk score, the victim would be flagged as a suspect. That is now a test in the codebase.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76088" cy="3794760"/>
          </a:xfrm>
          <a:prstGeom prst="roundRect">
            <a:avLst>
              <a:gd name="adj" fmla="val 723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847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EXPLAINED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212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Seed Wallet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688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count unusually above the peer average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712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Dispersal Wallet 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1272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count unusually above the peer average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5295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 Contract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7856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count unusually above the peer average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187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443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value unusually above the peer average   ← risk score: 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says “unlike its peers”. It never says “guilty”.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Paperwork an investigator can actually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36576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47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63 BSA 2023 dossier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6148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certificate and case metadata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integrity register — SHA-256, browser and server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custody, entities, and every transfer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appendix carrying the evidence for each indicator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limitations, and a DSC signature block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pages, generated in under two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572768"/>
            <a:ext cx="5394960" cy="36576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4708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286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FIU-IND Suspicious Transaction Report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76148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 field set, grounds of suspicion carried from the indicators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Reporting-entity fields left blank, never fabricated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recorded as NOT IDENTIFIED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3904488"/>
            <a:ext cx="4791456" cy="1170432"/>
          </a:xfrm>
          <a:prstGeom prst="roundRect">
            <a:avLst>
              <a:gd name="adj" fmla="val 2344"/>
            </a:avLst>
          </a:prstGeom>
          <a:solidFill>
            <a:srgbClr val="FBEDEC"/>
          </a:solidFill>
          <a:ln w="12700">
            <a:solidFill>
              <a:srgbClr val="E8C4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4059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cannot file it.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33425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FINnet has no public submission API, and filing requires registered Reporting Entity status. A test asserts no filing endpoint can exist in this codebase.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is only worth what its identity is worth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86400" cy="3749040"/>
          </a:xfrm>
          <a:prstGeom prst="roundRect">
            <a:avLst>
              <a:gd name="adj" fmla="val 732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677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name was a form field.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network could file evidence as any officer, and the log sat in a database file that any client could edit without trace.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custody record that the caller supplies, in a table the caller can rewrite, is not a custody record. It is the legal spine of the dossier, so that mattered more than any feature.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76088" cy="3749040"/>
          </a:xfrm>
          <a:prstGeom prst="roundRect">
            <a:avLst>
              <a:gd name="adj" fmla="val 732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8288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6832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304288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requires a signed-in officer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comes from the session, never the request body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commits to the one before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reordering or deleting any row breaks every later link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40599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 = SHA256(prev_hash | id | time | user | action | target)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45354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tampering DETECTABLE, not impossible. Only an append-only store or external notarisation prevents it — which is what the anchoring does.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files evidence as ‘IO_IMPOSTER’ and asserts the log still names the officer who was actually signed in.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publish the digest. The proof outlives the server.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SHA-256 of each ingested file is written to a public blockchain. That record sits outside this system — so if the machine is later compromised, rebuilt, or its database rewritten, the fact that the file existed in that exact form still stands.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76148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4553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 existed at or before that block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cannot afterwards be revised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substituted document no longer matches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431596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PROVE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the document — anyone may anchor any digest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document is tamper-PROOF — only tamper-EVIDENT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572768"/>
            <a:ext cx="5276088" cy="3977640"/>
          </a:xfrm>
          <a:prstGeom prst="roundRect">
            <a:avLst>
              <a:gd name="adj" fmla="val 690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EvidenceAnchor.sol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176272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anchor(bytes32 digest) external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(_anchors[digest].blockNumber != 0)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revert AlreadyAnchored(...);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_anchors[digest] = Anchor({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blockTime:   uint64(block.timestamp),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blockNumber: uint64(block.number),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anchoredBy:  msg.sender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4178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write wins.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44622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Re-anchoring reverts rather than overwriting. The earliest record is the evidentially meaningful one, and silently replacing it would let a later party claim an earlier document’s timestamp.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read-only and needs no credentials — anyone auditing the dossier can check the anchor without access to our systems.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OUR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us a real address. It picks the chain itself.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09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6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SUPPORTED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709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9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FROM CACHE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709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DETECTION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427464" y="170992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427464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MERGED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172968"/>
            <a:ext cx="5486400" cy="2103120"/>
          </a:xfrm>
          <a:prstGeom prst="roundRect">
            <a:avLst>
              <a:gd name="adj" fmla="val 1304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4015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is not where the money goes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85616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fraud proceeds move as USDT on TRON, where a transfer costs cents. Paste 0x… and we read Ethereum; paste T… and we read Tron. The investigator never declares a chain.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172968"/>
            <a:ext cx="5276088" cy="2103120"/>
          </a:xfrm>
          <a:prstGeom prst="roundRect">
            <a:avLst>
              <a:gd name="adj" fmla="val 1304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56832" y="34015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Tron, “USDT” is not proof of USDT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378561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deploy a token whose ticker reads USDT, and scammers do — to poison analysis. We verify the CONTRACT, never the symbol. On our first live trace that caught a 7.5-trillion fake transfer.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cached, so a pre-tested address still traces with the network unplugged. Demo addresses are OFAC-designated contracts and publicly labelled exchange wallets — never a private individual's.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competing with Chainalysis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 trace chains. Indian investigators need chains joined to case files.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39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139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 / TRM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139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MILK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87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on-chain tracing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487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487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explainable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944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attribution at scale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core asset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curated list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401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bank / UPI evidence (UTR, FIR)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401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401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58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off-chain records to on-chain flow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858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858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315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63 BSA 2023 dossier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7365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recomputable by hand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773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4773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published rules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1937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5230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stays in the police network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230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SaaS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230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650992"/>
            <a:ext cx="11265408" cy="402336"/>
          </a:xfrm>
          <a:prstGeom prst="roundRect">
            <a:avLst>
              <a:gd name="adj" fmla="val 4545"/>
            </a:avLst>
          </a:prstGeom>
          <a:solidFill>
            <a:srgbClr val="EDE7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5687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 district cyber cell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5687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licence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5687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 is better at tracing a blockchain than we will ever be. It will not read an SBI statement, and it runs outside India.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 — and what a pilot would measure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86400" cy="3840480"/>
          </a:xfrm>
          <a:prstGeom prst="roundRect">
            <a:avLst>
              <a:gd name="adj" fmla="val 714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3D9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94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watch every one of these happen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chains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670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and Tron, auto-detected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27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rules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1272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reproducible by hand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84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→ 12%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584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correctly avoided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41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custody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is detectable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498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network unplugged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498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560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tests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4956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endpoints, 8,499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572768"/>
            <a:ext cx="5276088" cy="3840480"/>
          </a:xfrm>
          <a:prstGeom prst="roundRect">
            <a:avLst>
              <a:gd name="adj" fmla="val 714"/>
            </a:avLst>
          </a:prstGeom>
          <a:solidFill>
            <a:srgbClr val="1C1828"/>
          </a:solidFill>
          <a:ln w="12700">
            <a:solidFill>
              <a:srgbClr val="3A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182880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51F34"/>
          </a:solidFill>
          <a:ln w="12700">
            <a:solidFill>
              <a:srgbClr val="E5901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568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9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CLAIMED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22494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deployed this. These are the questions an authorised pilot answers.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294436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ingestion to a draft dossier, against the current manual process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flagged entities an officer judges worth pursuing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against cases with a known outcome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Section 63 output is accepted without rework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B4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take this from prototype to pilot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0440" cy="3200400"/>
          </a:xfrm>
          <a:prstGeom prst="roundRect">
            <a:avLst>
              <a:gd name="adj" fmla="val 857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20240"/>
            <a:ext cx="566928" cy="56692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Authorised pilot data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3284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closed cases with a known outcome, so false positives can actually be measured rather than assumed.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20440" cy="3200400"/>
          </a:xfrm>
          <a:prstGeom prst="roundRect">
            <a:avLst>
              <a:gd name="adj" fmla="val 857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20240"/>
            <a:ext cx="566928" cy="56692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guidance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3284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that the Section 63 dossier format and the STR draft match what FIU-IND and the courts expect.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572768"/>
            <a:ext cx="3520440" cy="3200400"/>
          </a:xfrm>
          <a:prstGeom prst="roundRect">
            <a:avLst>
              <a:gd name="adj" fmla="val 857"/>
            </a:avLst>
          </a:prstGeom>
          <a:solidFill>
            <a:srgbClr val="FFFFFF"/>
          </a:solidFill>
          <a:ln w="12700">
            <a:solidFill>
              <a:srgbClr val="DED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20240"/>
            <a:ext cx="566928" cy="566928"/>
          </a:xfrm>
          <a:prstGeom prst="ellipse">
            <a:avLst/>
          </a:prstGeom>
          <a:solidFill>
            <a:srgbClr val="5B44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 mentorship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284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with officers who work these cases, to learn which of our indicators are useful and which are noise.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written and tested. What it needs next is contact with real cases and the officers who work them.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5669280" cy="5669280"/>
          </a:xfrm>
          <a:prstGeom prst="ellipse">
            <a:avLst/>
          </a:prstGeom>
          <a:solidFill>
            <a:srgbClr val="8B6FD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colour never disappears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already holds the trail. The bank already holds the UTR. What has been missing is the map between them — and a document a court will accept at the end of it.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6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Violet Milk is that map.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983480"/>
            <a:ext cx="2743200" cy="0"/>
          </a:xfrm>
          <a:prstGeom prst="line">
            <a:avLst/>
          </a:prstGeom>
          <a:noFill/>
          <a:ln w="12700">
            <a:solidFill>
              <a:srgbClr val="3A33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138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Pranshu  ·  B.Tech Cybersecurity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49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build · synthetic case data · analytical leads, not findings of guilt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42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github.com/23f2001033/project-violet-milk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Violet Milk</dc:title>
  <dc:subject>PptxGenJS Presentation</dc:subject>
  <dc:creator>Project Violet Milk</dc:creator>
  <cp:lastModifiedBy>Project Violet Milk</cp:lastModifiedBy>
  <cp:revision>1</cp:revision>
  <dcterms:created xsi:type="dcterms:W3CDTF">2026-09-06T10:50:39Z</dcterms:created>
  <dcterms:modified xsi:type="dcterms:W3CDTF">2026-09-06T10:50:39Z</dcterms:modified>
</cp:coreProperties>
</file>
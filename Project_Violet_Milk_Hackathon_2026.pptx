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0" y="914400"/>
            <a:ext cx="914400" cy="1417320"/>
          </a:xfrm>
          <a:prstGeom prst="roundRect">
            <a:avLst/>
          </a:prstGeom>
          <a:solidFill>
            <a:srgbClr val="060D1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87568" y="1325880"/>
            <a:ext cx="786384" cy="822960"/>
          </a:xfrm>
          <a:prstGeom prst="roundRect">
            <a:avLst/>
          </a:prstGeom>
          <a:solidFill>
            <a:srgbClr val="9F7AEA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233172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9F7AEA"/>
                </a:solidFill>
                <a:latin typeface="Aptos Mono"/>
              </a:rPr>
              <a:t>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8503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E8E6E3"/>
                </a:solidFill>
                <a:latin typeface="Georgia"/>
              </a:rPr>
              <a:t>Project Violet Milk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42900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 i="0">
                <a:solidFill>
                  <a:srgbClr val="7A8599"/>
                </a:solidFill>
                <a:latin typeface="Aptos"/>
              </a:rPr>
              <a:t>Crypto Flow Tracking &amp; Analytics for India's FIU-IND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977639"/>
            <a:ext cx="6675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1">
                <a:solidFill>
                  <a:srgbClr val="9F7AEA"/>
                </a:solidFill>
                <a:latin typeface="Georgia"/>
              </a:rPr>
              <a:t>“If you can track violet milk in 100 utensils,</a:t>
            </a:r>
            <a:br/>
            <a:r>
              <a:t>you can track illicit crypto in 100,000 wallets.”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983480"/>
            <a:ext cx="868680" cy="310896"/>
          </a:xfrm>
          <a:prstGeom prst="roundRect">
            <a:avLst/>
          </a:prstGeom>
          <a:solidFill>
            <a:srgbClr val="130F1D"/>
          </a:solidFill>
          <a:ln w="12700">
            <a:solidFill>
              <a:srgbClr val="4F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4983480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9F7AEA"/>
                </a:solidFill>
                <a:latin typeface="Aptos Mono"/>
              </a:rPr>
              <a:t>Pranshu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98348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7A8599"/>
                </a:solidFill>
                <a:latin typeface="Aptos"/>
              </a:rPr>
              <a:t>B.Tech Cybersecurity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4983480"/>
            <a:ext cx="1143000" cy="310896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78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4983480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C040"/>
                </a:solidFill>
                <a:latin typeface="Aptos Mono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THE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India's Crypto Crime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2025–2026: The numbers are staggering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074920" cy="11430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06080"/>
                </a:solidFill>
                <a:latin typeface="Georgia"/>
              </a:rPr>
              <a:t>₹868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7A8599"/>
                </a:solidFill>
                <a:latin typeface="Aptos"/>
              </a:rPr>
              <a:t>FIU-IND cyber-fraud — 5,000+ mule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074920" cy="11430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30552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0C040"/>
                </a:solidFill>
                <a:latin typeface="Georgia"/>
              </a:rPr>
              <a:t>₹34,855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87752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7A8599"/>
                </a:solidFill>
                <a:latin typeface="Aptos"/>
              </a:rPr>
              <a:t>Proceeds of crime identified by 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5074920" cy="11430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9F7AEA"/>
                </a:solidFill>
                <a:latin typeface="Georgia"/>
              </a:rPr>
              <a:t>₹500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05072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7A8599"/>
                </a:solidFill>
                <a:latin typeface="Aptos"/>
              </a:rPr>
              <a:t>Korvio Coin scam — 2.48 lakh victims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5074920" cy="11430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47872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3DD6B5"/>
                </a:solidFill>
                <a:latin typeface="Georgia"/>
              </a:rPr>
              <a:t>11,720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005072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7A8599"/>
                </a:solidFill>
                <a:latin typeface="Aptos"/>
              </a:rPr>
              <a:t>STRs in FY26 — up 773% year-over-year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074920"/>
            <a:ext cx="5029200" cy="310896"/>
          </a:xfrm>
          <a:prstGeom prst="roundRect">
            <a:avLst/>
          </a:prstGeom>
          <a:solidFill>
            <a:srgbClr val="1E0C10"/>
          </a:solidFill>
          <a:ln w="12700">
            <a:solidFill>
              <a:srgbClr val="7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5029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6080"/>
                </a:solidFill>
                <a:latin typeface="Aptos Mono"/>
              </a:rPr>
              <a:t>₹113 Cr — Money Trade Coin (accused fled Dubai)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074920"/>
            <a:ext cx="5029200" cy="310896"/>
          </a:xfrm>
          <a:prstGeom prst="roundRect">
            <a:avLst/>
          </a:prstGeom>
          <a:solidFill>
            <a:srgbClr val="1E0C10"/>
          </a:solidFill>
          <a:ln w="12700">
            <a:solidFill>
              <a:srgbClr val="7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5074920"/>
            <a:ext cx="5029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6080"/>
                </a:solidFill>
                <a:latin typeface="Aptos Mono"/>
              </a:rPr>
              <a:t>₹337 Cr — $35M OTC scam (0.025% recovered)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77840"/>
            <a:ext cx="5029200" cy="310896"/>
          </a:xfrm>
          <a:prstGeom prst="roundRect">
            <a:avLst/>
          </a:prstGeom>
          <a:solidFill>
            <a:srgbClr val="1E0C10"/>
          </a:solidFill>
          <a:ln w="12700">
            <a:solidFill>
              <a:srgbClr val="7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5029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6080"/>
                </a:solidFill>
                <a:latin typeface="Aptos Mono"/>
              </a:rPr>
              <a:t>₹21 Cr — 77 mule accounts, 12 layers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5577840"/>
            <a:ext cx="5029200" cy="310896"/>
          </a:xfrm>
          <a:prstGeom prst="roundRect">
            <a:avLst/>
          </a:prstGeom>
          <a:solidFill>
            <a:srgbClr val="1E0C10"/>
          </a:solidFill>
          <a:ln w="12700">
            <a:solidFill>
              <a:srgbClr val="7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577840"/>
            <a:ext cx="5029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6080"/>
                </a:solidFill>
                <a:latin typeface="Aptos Mono"/>
              </a:rPr>
              <a:t>₹19.84 Cr — 200+ mule accounts, 15 banks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REGULATORY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FIU-IND Has the Mandate.</a:t>
            </a:r>
            <a:br/>
            <a:r>
              <a:t>They Don't Have the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0C040"/>
                </a:solidFill>
                <a:latin typeface="Aptos Mono"/>
              </a:rPr>
              <a:t>Jan 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9659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Aptos"/>
              </a:rPr>
              <a:t>FIU-IND AML/CFT Guidelines for Virtual Digital 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0C040"/>
                </a:solidFill>
                <a:latin typeface="Aptos Mono"/>
              </a:rPr>
              <a:t>MANDATORY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587752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Aptos"/>
              </a:rPr>
              <a:t>FIU registration for all crypto exchanges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954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0C040"/>
                </a:solidFill>
                <a:latin typeface="Aptos Mono"/>
              </a:rPr>
              <a:t>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209544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Aptos"/>
              </a:rPr>
              <a:t>Live selfie + geo-tagging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31335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0C040"/>
                </a:solidFill>
                <a:latin typeface="Aptos Mono"/>
              </a:rPr>
              <a:t>OTC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831335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Aptos"/>
              </a:rPr>
              <a:t>Trades &gt; $10,000 must be reported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53128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0C040"/>
                </a:solidFill>
                <a:latin typeface="Aptos Mono"/>
              </a:rPr>
              <a:t>PROHIBITED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453128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Aptos"/>
              </a:rPr>
              <a:t>Mixers &amp; tumblers banned outright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0C040"/>
                </a:solidFill>
                <a:latin typeface="Aptos Mono"/>
              </a:rPr>
              <a:t>STR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07492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Aptos"/>
              </a:rPr>
              <a:t>Filing within 7 working days mandatory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965960"/>
            <a:ext cx="3383280" cy="18288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194560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i="0">
                <a:solidFill>
                  <a:srgbClr val="E8E6E3"/>
                </a:solidFill>
                <a:latin typeface="Aptos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743200"/>
            <a:ext cx="2651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1">
                <a:solidFill>
                  <a:srgbClr val="F0C040"/>
                </a:solidFill>
                <a:latin typeface="Georgia"/>
              </a:rPr>
              <a:t>“FIUs need AI, ML, big data, blockchain forensics”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8328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Aptos"/>
              </a:rPr>
              <a:t>— FIU-IND, Jan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4160520"/>
            <a:ext cx="1417320" cy="310896"/>
          </a:xfrm>
          <a:prstGeom prst="roundRect">
            <a:avLst/>
          </a:prstGeom>
          <a:solidFill>
            <a:srgbClr val="130F1D"/>
          </a:solidFill>
          <a:ln w="12700">
            <a:solidFill>
              <a:srgbClr val="4F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16052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9F7AEA"/>
                </a:solidFill>
                <a:latin typeface="Aptos Mono"/>
              </a:rPr>
              <a:t>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4160520"/>
            <a:ext cx="1417320" cy="310896"/>
          </a:xfrm>
          <a:prstGeom prst="roundRect">
            <a:avLst/>
          </a:prstGeom>
          <a:solidFill>
            <a:srgbClr val="071A16"/>
          </a:solidFill>
          <a:ln w="12700">
            <a:solidFill>
              <a:srgbClr val="1E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416052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3DD6B5"/>
                </a:solidFill>
                <a:latin typeface="Aptos Mono"/>
              </a:rPr>
              <a:t>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4617720"/>
            <a:ext cx="1417320" cy="310896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78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461772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C040"/>
                </a:solidFill>
                <a:latin typeface="Aptos Mono"/>
              </a:rPr>
              <a:t>Big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4617720"/>
            <a:ext cx="1417320" cy="310896"/>
          </a:xfrm>
          <a:prstGeom prst="roundRect">
            <a:avLst/>
          </a:prstGeom>
          <a:solidFill>
            <a:srgbClr val="1E0C10"/>
          </a:solidFill>
          <a:ln w="12700">
            <a:solidFill>
              <a:srgbClr val="7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461772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6080"/>
                </a:solidFill>
                <a:latin typeface="Aptos Mono"/>
              </a:rPr>
              <a:t>Blockchain Forensics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THE BLIND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The Blind Spot No One Is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OTC channels &amp; mule accounts — the invisible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234440" cy="9144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487168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E8E6E3"/>
                </a:solidFill>
                <a:latin typeface="Aptos"/>
              </a:rPr>
              <a:t>👤 Victim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2587752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9F7AEA"/>
                </a:solidFill>
                <a:latin typeface="Aptos Mon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47672" y="2331720"/>
            <a:ext cx="1234440" cy="9144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0824" y="2487168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E8E6E3"/>
                </a:solidFill>
                <a:latin typeface="Aptos"/>
              </a:rPr>
              <a:t>🏦 Mule Account</a:t>
            </a:r>
            <a:br/>
            <a:r>
              <a:t>5,000+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2587752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9F7AEA"/>
                </a:solidFill>
                <a:latin typeface="Aptos Mon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2331720"/>
            <a:ext cx="1234440" cy="9144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2487168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E8E6E3"/>
                </a:solidFill>
                <a:latin typeface="Aptos"/>
              </a:rPr>
              <a:t>💱 OTC / P2P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587752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9F7AEA"/>
                </a:solidFill>
                <a:latin typeface="Aptos Mon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37176" y="2331720"/>
            <a:ext cx="1234440" cy="9144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2487168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E8E6E3"/>
                </a:solidFill>
                <a:latin typeface="Aptos"/>
              </a:rPr>
              <a:t>₮ USDT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587752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9F7AEA"/>
                </a:solidFill>
                <a:latin typeface="Aptos Mono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2331720"/>
            <a:ext cx="1234440" cy="9144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487168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E8E6E3"/>
                </a:solidFill>
                <a:latin typeface="Aptos"/>
              </a:rPr>
              <a:t>👛 Multiple Wallets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2587752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9F7AEA"/>
                </a:solidFill>
                <a:latin typeface="Aptos Mono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80" y="2331720"/>
            <a:ext cx="1234440" cy="9144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2" y="2487168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E8E6E3"/>
                </a:solidFill>
                <a:latin typeface="Aptos"/>
              </a:rPr>
              <a:t>🌀 Mixers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2587752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9F7AEA"/>
                </a:solidFill>
                <a:latin typeface="Aptos Mon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71432" y="2331720"/>
            <a:ext cx="1234440" cy="9144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2487168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E8E6E3"/>
                </a:solidFill>
                <a:latin typeface="Aptos"/>
              </a:rPr>
              <a:t>🔗 Cross-Chain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15016" y="2587752"/>
            <a:ext cx="2011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9F7AEA"/>
                </a:solidFill>
                <a:latin typeface="Aptos Mono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16184" y="2331720"/>
            <a:ext cx="1234440" cy="9144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89336" y="2487168"/>
            <a:ext cx="10881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E8E6E3"/>
                </a:solidFill>
                <a:latin typeface="Aptos"/>
              </a:rPr>
              <a:t>💀 GONE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3977639"/>
            <a:ext cx="3840480" cy="9144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4160520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06080"/>
                </a:solidFill>
                <a:latin typeface="Aptos"/>
              </a:rPr>
              <a:t>🔴  Real Case: ₹868 Crore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480560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5,000+ mule accounts across India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977639"/>
            <a:ext cx="3931920" cy="9144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16052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0C040"/>
                </a:solidFill>
                <a:latin typeface="Aptos"/>
              </a:rPr>
              <a:t>⚠  OTC = High-Risk Channel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480560"/>
            <a:ext cx="3291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“Primary channel for illicit flows” — FATF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THE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If You Can Track Violet Milk,</a:t>
            </a:r>
            <a:br/>
            <a:r>
              <a:t>You Can Track Illicit Crypto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The concept is simple — the color never disappears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9F7AEA"/>
                </a:solidFill>
                <a:latin typeface="Aptos Mono"/>
              </a:rPr>
              <a:t>🥛 VIOLET MILK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🟣 Violet milk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70632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98064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🫖 100 utensils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00984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28415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🌊 Mixing milk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31335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8768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✨ Color never disappears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61688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📏 Measure percentage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92040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919472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🗺️ Map where gathered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3DD6B5"/>
                </a:solidFill>
                <a:latin typeface="Aptos Mono"/>
              </a:rPr>
              <a:t>⛓️ ILLICIT CRYPTO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240280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267712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🔴 Scam funds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770632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798064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👛 100+ wallets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300984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328415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🌀 Mixers / tumblers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31335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58768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⛓️ Blockchain is immutable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361688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389120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📊 Calculate illicit % per wallet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892040"/>
            <a:ext cx="4846320" cy="393192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919472"/>
            <a:ext cx="4572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🕸️ Transaction 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337560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0C040"/>
                </a:solidFill>
                <a:latin typeface="Aptos Mono"/>
              </a:rPr>
              <a:t>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577840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1">
                <a:solidFill>
                  <a:srgbClr val="9F7AEA"/>
                </a:solidFill>
                <a:latin typeface="Georgia"/>
              </a:rPr>
              <a:t>“The violet milk never disappears — just like blockchain transactions can never be deleted.”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Project Violet Milk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Track. Flag. Analyze.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74720" cy="260604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95728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i="0">
                <a:solidFill>
                  <a:srgbClr val="E8E6E3"/>
                </a:solidFill>
                <a:latin typeface="Aptos"/>
              </a:rPr>
              <a:t>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07792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9F7AEA"/>
                </a:solidFill>
                <a:latin typeface="Aptos Mono"/>
              </a:rPr>
              <a:t>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Follow the violet milk trail across chains — DFS/BFS transaction tracing through 12+ layers of wallet hops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48840"/>
            <a:ext cx="3474720" cy="260604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395728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i="0">
                <a:solidFill>
                  <a:srgbClr val="E8E6E3"/>
                </a:solidFill>
                <a:latin typeface="Aptos"/>
              </a:rPr>
              <a:t>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07792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 Mono"/>
              </a:rPr>
              <a:t>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38328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Flag wallets &gt;30% illicit as HIGH risk, &gt;50% as CRITICAL — powered by Isolation Forest &amp; DBSCAN anomaly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148840"/>
            <a:ext cx="3474720" cy="260604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395728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i="0">
                <a:solidFill>
                  <a:srgbClr val="E8E6E3"/>
                </a:solidFill>
                <a:latin typeface="Aptos"/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07792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3DD6B5"/>
                </a:solidFill>
                <a:latin typeface="Aptos Mono"/>
              </a:rPr>
              <a:t>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38328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One-click FIU-IND compliant Suspicious Transaction Report — auto-generated, audit-ready, filed in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212080"/>
            <a:ext cx="8503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1">
                <a:solidFill>
                  <a:srgbClr val="7A8599"/>
                </a:solidFill>
                <a:latin typeface="Georgia"/>
              </a:rPr>
              <a:t>“FIU-IND said: We need AI, ML, blockchain forensics.”  Project Violet Milk is that technology.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5 AI Agents — Automated Violet Milk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Each agent operates autonomously, collaborating through a shared intelligence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03120"/>
            <a:ext cx="2148840" cy="24231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 i="0">
                <a:solidFill>
                  <a:srgbClr val="E8E6E3"/>
                </a:solidFill>
                <a:latin typeface="Aptos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9F7AEA"/>
                </a:solidFill>
                <a:latin typeface="Aptos Mono"/>
              </a:rPr>
              <a:t>Track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342900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Aptos"/>
              </a:rPr>
              <a:t>DFS/BFS transaction tracing across blockchain networks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2103120"/>
            <a:ext cx="2148840" cy="24231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23317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 i="0">
                <a:solidFill>
                  <a:srgbClr val="E8E6E3"/>
                </a:solidFill>
                <a:latin typeface="Aptos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8803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9F7AEA"/>
                </a:solidFill>
                <a:latin typeface="Aptos Mono"/>
              </a:rPr>
              <a:t>Percentage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342900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Aptos"/>
              </a:rPr>
              <a:t>Illicit-to-total fund ratio calculator per wallet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4" y="2103120"/>
            <a:ext cx="2148840" cy="24231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4" y="23317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 i="0">
                <a:solidFill>
                  <a:srgbClr val="E8E6E3"/>
                </a:solidFill>
                <a:latin typeface="Aptos"/>
              </a:rPr>
              <a:t>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8803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9F7AEA"/>
                </a:solidFill>
                <a:latin typeface="Aptos Mono"/>
              </a:rPr>
              <a:t>Flag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342900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Aptos"/>
              </a:rPr>
              <a:t>Isolation Forest + DBSCAN anomaly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936" y="2103120"/>
            <a:ext cx="2148840" cy="24231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8936" y="23317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 i="0">
                <a:solidFill>
                  <a:srgbClr val="E8E6E3"/>
                </a:solidFill>
                <a:latin typeface="Aptos"/>
              </a:rPr>
              <a:t>🗺️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5" y="28803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9F7AEA"/>
                </a:solidFill>
                <a:latin typeface="Aptos Mono"/>
              </a:rPr>
              <a:t>Map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7" y="342900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Aptos"/>
              </a:rPr>
              <a:t>NetworkX + D3.js graph visualization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48088" y="2103120"/>
            <a:ext cx="2148840" cy="24231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23317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 i="0">
                <a:solidFill>
                  <a:srgbClr val="E8E6E3"/>
                </a:solidFill>
                <a:latin typeface="Aptos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8803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9F7AEA"/>
                </a:solidFill>
                <a:latin typeface="Aptos Mono"/>
              </a:rPr>
              <a:t>Report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42900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Aptos"/>
              </a:rPr>
              <a:t>FIU-IND compliant STR auto-generator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4983480"/>
            <a:ext cx="1143000" cy="310896"/>
          </a:xfrm>
          <a:prstGeom prst="roundRect">
            <a:avLst/>
          </a:prstGeom>
          <a:solidFill>
            <a:srgbClr val="130F1D"/>
          </a:solidFill>
          <a:ln w="12700">
            <a:solidFill>
              <a:srgbClr val="4F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4983480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9F7AEA"/>
                </a:solidFill>
                <a:latin typeface="Aptos Mono"/>
              </a:rPr>
              <a:t>Python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983480"/>
            <a:ext cx="1143000" cy="310896"/>
          </a:xfrm>
          <a:prstGeom prst="roundRect">
            <a:avLst/>
          </a:prstGeom>
          <a:solidFill>
            <a:srgbClr val="071A16"/>
          </a:solidFill>
          <a:ln w="12700">
            <a:solidFill>
              <a:srgbClr val="1E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4983480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3DD6B5"/>
                </a:solidFill>
                <a:latin typeface="Aptos Mono"/>
              </a:rPr>
              <a:t>Neo4j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4983480"/>
            <a:ext cx="1143000" cy="310896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78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4983480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C040"/>
                </a:solidFill>
                <a:latin typeface="Aptos Mono"/>
              </a:rPr>
              <a:t>D3.js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4983480"/>
            <a:ext cx="1143000" cy="310896"/>
          </a:xfrm>
          <a:prstGeom prst="roundRect">
            <a:avLst/>
          </a:prstGeom>
          <a:solidFill>
            <a:srgbClr val="1E0C10"/>
          </a:solidFill>
          <a:ln w="12700">
            <a:solidFill>
              <a:srgbClr val="7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983480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6080"/>
                </a:solidFill>
                <a:latin typeface="Aptos Mono"/>
              </a:rPr>
              <a:t>Scikit-learn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983480"/>
            <a:ext cx="1143000" cy="310896"/>
          </a:xfrm>
          <a:prstGeom prst="roundRect">
            <a:avLst/>
          </a:prstGeom>
          <a:solidFill>
            <a:srgbClr val="130F1D"/>
          </a:solidFill>
          <a:ln w="12700">
            <a:solidFill>
              <a:srgbClr val="4F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983480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9F7AEA"/>
                </a:solidFill>
                <a:latin typeface="Aptos Mono"/>
              </a:rPr>
              <a:t>NetworkX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End-to-end pipeline from raw blockchain data to actionable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246120" cy="256032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286000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040"/>
                </a:solidFill>
                <a:latin typeface="Aptos Mono"/>
              </a:rPr>
              <a:t>📥 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Etherscan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0040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Bitquery GraphQL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611879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Blockchain.com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02336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Wallet labels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30632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9F7AEA"/>
                </a:solidFill>
                <a:latin typeface="Aptos Mon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057400"/>
            <a:ext cx="3246120" cy="256032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9F7AEA"/>
                </a:solidFill>
                <a:latin typeface="Aptos Mono"/>
              </a:rPr>
              <a:t>🧠 ANALYSIS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Neo4j Graph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0040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Isolation Forest (anomaly)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611879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DBSCAN (clustering)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2336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XGBoost (classification)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30632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9F7AEA"/>
                </a:solidFill>
                <a:latin typeface="Aptos Mon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057400"/>
            <a:ext cx="3246120" cy="256032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286000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3DD6B5"/>
                </a:solidFill>
                <a:latin typeface="Aptos Mono"/>
              </a:rPr>
              <a:t>📊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8892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Interactive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0040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Transaction Graph Viz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611879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Risk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02336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Aptos"/>
              </a:rPr>
              <a:t>FIU-IND STR 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74920"/>
            <a:ext cx="2514600" cy="310896"/>
          </a:xfrm>
          <a:prstGeom prst="roundRect">
            <a:avLst/>
          </a:prstGeom>
          <a:solidFill>
            <a:srgbClr val="130F1D"/>
          </a:solidFill>
          <a:ln w="12700">
            <a:solidFill>
              <a:srgbClr val="4F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2514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9F7AEA"/>
                </a:solidFill>
                <a:latin typeface="Aptos Mono"/>
              </a:rPr>
              <a:t>Frontend: HTML/CSS/JS + D3.js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074920"/>
            <a:ext cx="2514600" cy="310896"/>
          </a:xfrm>
          <a:prstGeom prst="roundRect">
            <a:avLst/>
          </a:prstGeom>
          <a:solidFill>
            <a:srgbClr val="071A16"/>
          </a:solidFill>
          <a:ln w="12700">
            <a:solidFill>
              <a:srgbClr val="1E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5074920"/>
            <a:ext cx="2514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3DD6B5"/>
                </a:solidFill>
                <a:latin typeface="Aptos Mono"/>
              </a:rPr>
              <a:t>Backend: Python Flask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5074920"/>
            <a:ext cx="2514600" cy="310896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78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074920"/>
            <a:ext cx="2514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C040"/>
                </a:solidFill>
                <a:latin typeface="Aptos Mono"/>
              </a:rPr>
              <a:t>Database: Neo4j (Graph)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5074920"/>
            <a:ext cx="2514600" cy="310896"/>
          </a:xfrm>
          <a:prstGeom prst="roundRect">
            <a:avLst/>
          </a:prstGeom>
          <a:solidFill>
            <a:srgbClr val="1E0C10"/>
          </a:solidFill>
          <a:ln w="12700">
            <a:solidFill>
              <a:srgbClr val="7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5074920"/>
            <a:ext cx="2514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6080"/>
                </a:solidFill>
                <a:latin typeface="Aptos Mono"/>
              </a:rPr>
              <a:t>ML: Isolation Forest · DBSCAN · XGBoost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The Violet Milk Map —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32720" cy="3474720"/>
          </a:xfrm>
          <a:prstGeom prst="roundRect">
            <a:avLst/>
          </a:prstGeom>
          <a:solidFill>
            <a:srgbClr val="0B1A2E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031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9F7AEA"/>
                </a:solidFill>
                <a:latin typeface="Aptos Mono"/>
              </a:rPr>
              <a:t>🟣 Project Violet Milk —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2680" y="2084831"/>
            <a:ext cx="731520" cy="310896"/>
          </a:xfrm>
          <a:prstGeom prst="roundRect">
            <a:avLst/>
          </a:prstGeom>
          <a:solidFill>
            <a:srgbClr val="071A16"/>
          </a:solidFill>
          <a:ln w="12700">
            <a:solidFill>
              <a:srgbClr val="1E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12680" y="2084831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3DD6B5"/>
                </a:solidFill>
                <a:latin typeface="Aptos Mono"/>
              </a:rPr>
              <a:t>●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743200"/>
            <a:ext cx="2148840" cy="914400"/>
          </a:xfrm>
          <a:prstGeom prst="roundRect">
            <a:avLst/>
          </a:prstGeom>
          <a:solidFill>
            <a:srgbClr val="060D1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88036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9F7AEA"/>
                </a:solidFill>
                <a:latin typeface="Georgia"/>
              </a:rPr>
              <a:t>10,847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1012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7A8599"/>
                </a:solidFill>
                <a:latin typeface="Aptos"/>
              </a:rPr>
              <a:t>Wallets Tracked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743200"/>
            <a:ext cx="2148840" cy="914400"/>
          </a:xfrm>
          <a:prstGeom prst="roundRect">
            <a:avLst/>
          </a:prstGeom>
          <a:solidFill>
            <a:srgbClr val="060D1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88036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06080"/>
                </a:solidFill>
                <a:latin typeface="Georgia"/>
              </a:rPr>
              <a:t>₹2,500+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31012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7A8599"/>
                </a:solidFill>
                <a:latin typeface="Aptos"/>
              </a:rPr>
              <a:t>Violet Milk Detected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743200"/>
            <a:ext cx="2148840" cy="914400"/>
          </a:xfrm>
          <a:prstGeom prst="roundRect">
            <a:avLst/>
          </a:prstGeom>
          <a:solidFill>
            <a:srgbClr val="060D18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88036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0C040"/>
                </a:solidFill>
                <a:latin typeface="Georgia"/>
              </a:rPr>
              <a:t>347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31012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7A8599"/>
                </a:solidFill>
                <a:latin typeface="Aptos"/>
              </a:rPr>
              <a:t>Critical Risk Wallets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19" y="2743200"/>
            <a:ext cx="2148840" cy="914400"/>
          </a:xfrm>
          <a:prstGeom prst="roundRect">
            <a:avLst/>
          </a:prstGeom>
          <a:solidFill>
            <a:srgbClr val="060D1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59" y="288036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3DD6B5"/>
                </a:solidFill>
                <a:latin typeface="Georgia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59" y="331012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7A8599"/>
                </a:solidFill>
                <a:latin typeface="Aptos"/>
              </a:rPr>
              <a:t>Transaction Layers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4297680"/>
            <a:ext cx="457200" cy="320040"/>
          </a:xfrm>
          <a:prstGeom prst="roundRect">
            <a:avLst/>
          </a:prstGeom>
          <a:solidFill>
            <a:srgbClr val="9F7AEA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48840" y="4114800"/>
            <a:ext cx="457200" cy="502920"/>
          </a:xfrm>
          <a:prstGeom prst="roundRect">
            <a:avLst/>
          </a:prstGeom>
          <a:solidFill>
            <a:srgbClr val="3DD6B5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80360" y="4233672"/>
            <a:ext cx="457200" cy="384048"/>
          </a:xfrm>
          <a:prstGeom prst="roundRect">
            <a:avLst/>
          </a:prstGeom>
          <a:solidFill>
            <a:srgbClr val="3DD6B5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11880" y="3959352"/>
            <a:ext cx="457200" cy="658368"/>
          </a:xfrm>
          <a:prstGeom prst="roundRect">
            <a:avLst/>
          </a:prstGeom>
          <a:solidFill>
            <a:srgbClr val="9F7AEA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43400" y="4069080"/>
            <a:ext cx="457200" cy="548640"/>
          </a:xfrm>
          <a:prstGeom prst="roundRect">
            <a:avLst/>
          </a:prstGeom>
          <a:solidFill>
            <a:srgbClr val="3DD6B5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74920" y="3813048"/>
            <a:ext cx="457200" cy="804672"/>
          </a:xfrm>
          <a:prstGeom prst="roundRect">
            <a:avLst/>
          </a:prstGeom>
          <a:solidFill>
            <a:srgbClr val="3DD6B5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06440" y="4014215"/>
            <a:ext cx="457200" cy="603504"/>
          </a:xfrm>
          <a:prstGeom prst="roundRect">
            <a:avLst/>
          </a:prstGeom>
          <a:solidFill>
            <a:srgbClr val="9F7AEA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37960" y="3749039"/>
            <a:ext cx="457200" cy="868680"/>
          </a:xfrm>
          <a:prstGeom prst="roundRect">
            <a:avLst/>
          </a:prstGeom>
          <a:solidFill>
            <a:srgbClr val="3DD6B5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69480" y="3904487"/>
            <a:ext cx="457200" cy="713232"/>
          </a:xfrm>
          <a:prstGeom prst="roundRect">
            <a:avLst/>
          </a:prstGeom>
          <a:solidFill>
            <a:srgbClr val="3DD6B5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01000" y="3794759"/>
            <a:ext cx="457200" cy="822960"/>
          </a:xfrm>
          <a:prstGeom prst="roundRect">
            <a:avLst/>
          </a:prstGeom>
          <a:solidFill>
            <a:srgbClr val="9F7AEA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3977639"/>
            <a:ext cx="457200" cy="640080"/>
          </a:xfrm>
          <a:prstGeom prst="roundRect">
            <a:avLst/>
          </a:prstGeom>
          <a:solidFill>
            <a:srgbClr val="3DD6B5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64040" y="3721608"/>
            <a:ext cx="457200" cy="896112"/>
          </a:xfrm>
          <a:prstGeom prst="roundRect">
            <a:avLst/>
          </a:prstGeom>
          <a:solidFill>
            <a:srgbClr val="3DD6B5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Tracing the Violet Milk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Following illicit funds through 12 transaction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6492240" cy="56692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47672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E8E6E3"/>
                </a:solidFill>
                <a:latin typeface="Aptos"/>
              </a:rPr>
              <a:t>🔴 Source: Scam Wallet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002536"/>
            <a:ext cx="1005840" cy="310896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78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2002536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C040"/>
                </a:solidFill>
                <a:latin typeface="Aptos Mono"/>
              </a:rPr>
              <a:t>Origin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1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9F7AEA"/>
                </a:solidFill>
                <a:latin typeface="Aptos Mono"/>
              </a:rPr>
              <a:t>↓ Layer 1-3: Mule dispersal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87752"/>
            <a:ext cx="6492240" cy="56692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60904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E8E6E3"/>
                </a:solidFill>
                <a:latin typeface="Aptos"/>
              </a:rPr>
              <a:t>🏦 20,507 Mule Accounts Identified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715768"/>
            <a:ext cx="1005840" cy="310896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78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715768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C040"/>
                </a:solidFill>
                <a:latin typeface="Aptos Mono"/>
              </a:rPr>
              <a:t>Flagged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63824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9F7AEA"/>
                </a:solidFill>
                <a:latin typeface="Aptos Mono"/>
              </a:rPr>
              <a:t>↓ Layer 4-8: OTC aggregation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00984"/>
            <a:ext cx="6492240" cy="56692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374136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E8E6E3"/>
                </a:solidFill>
                <a:latin typeface="Aptos"/>
              </a:rPr>
              <a:t>💱 OTC / P2P Conversion → USDT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429000"/>
            <a:ext cx="1005840" cy="310896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78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429000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C040"/>
                </a:solidFill>
                <a:latin typeface="Aptos Mono"/>
              </a:rPr>
              <a:t>Blind Spot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77056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9F7AEA"/>
                </a:solidFill>
                <a:latin typeface="Aptos Mono"/>
              </a:rPr>
              <a:t>↓ Layer 9-12: Mixing &amp; cross-chain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14215"/>
            <a:ext cx="6492240" cy="566928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8736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E8E6E3"/>
                </a:solidFill>
                <a:latin typeface="Aptos"/>
              </a:rPr>
              <a:t>🌀 Mixers → Cross-Chain Bridges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142231"/>
            <a:ext cx="1005840" cy="310896"/>
          </a:xfrm>
          <a:prstGeom prst="roundRect">
            <a:avLst/>
          </a:prstGeom>
          <a:solidFill>
            <a:srgbClr val="1E0C10"/>
          </a:solidFill>
          <a:ln w="12700">
            <a:solidFill>
              <a:srgbClr val="7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4142231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6080"/>
                </a:solidFill>
                <a:latin typeface="Aptos Mono"/>
              </a:rPr>
              <a:t>CRITICAL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1874519"/>
            <a:ext cx="3383280" cy="18288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10312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7A8599"/>
                </a:solidFill>
                <a:latin typeface="Aptos Mono"/>
              </a:rPr>
              <a:t>WALLET SPOTLIGHT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46888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9F7AEA"/>
                </a:solidFill>
                <a:latin typeface="Aptos Mono"/>
              </a:rPr>
              <a:t>A7F3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F06080"/>
                </a:solidFill>
                <a:latin typeface="Georgia"/>
              </a:rPr>
              <a:t>67%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310128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7A8599"/>
                </a:solidFill>
                <a:latin typeface="Aptos"/>
              </a:rPr>
              <a:t>Violet Milk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2926080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F06080"/>
                </a:solidFill>
                <a:latin typeface="Georgia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310128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7A8599"/>
                </a:solidFill>
                <a:latin typeface="Aptos"/>
              </a:rPr>
              <a:t>Layers Deep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3703320"/>
            <a:ext cx="2286000" cy="310896"/>
          </a:xfrm>
          <a:prstGeom prst="roundRect">
            <a:avLst/>
          </a:prstGeom>
          <a:solidFill>
            <a:srgbClr val="1E0C10"/>
          </a:solidFill>
          <a:ln w="12700">
            <a:solidFill>
              <a:srgbClr val="7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703320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06080"/>
                </a:solidFill>
                <a:latin typeface="Aptos Mono"/>
              </a:rPr>
              <a:t>⚠ CRITICAL RISK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18120" y="3977639"/>
            <a:ext cx="3383280" cy="141732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20624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7A8599"/>
                </a:solidFill>
                <a:latin typeface="Aptos Mono"/>
              </a:rPr>
              <a:t>TRACE STATS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57200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3DD6B5"/>
                </a:solidFill>
                <a:latin typeface="Georgia"/>
              </a:rPr>
              <a:t>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901184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7A8599"/>
                </a:solidFill>
                <a:latin typeface="Aptos"/>
              </a:rPr>
              <a:t>Connected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57200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0C040"/>
                </a:solidFill>
                <a:latin typeface="Georgia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901184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7A8599"/>
                </a:solidFill>
                <a:latin typeface="Aptos"/>
              </a:rPr>
              <a:t>Mixers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5720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06080"/>
                </a:solidFill>
                <a:latin typeface="Georgia"/>
              </a:rPr>
              <a:t>YES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4901184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7A8599"/>
                </a:solidFill>
                <a:latin typeface="Aptos"/>
              </a:rPr>
              <a:t>OTC Trade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One Click — FIU-IND Compliant STR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Auto-generated, audit-ready, filed in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400800" cy="3977639"/>
          </a:xfrm>
          <a:prstGeom prst="roundRect">
            <a:avLst/>
          </a:prstGeom>
          <a:solidFill>
            <a:srgbClr val="0B1A2E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9F7AEA"/>
                </a:solidFill>
                <a:latin typeface="Aptos Mono"/>
              </a:rPr>
              <a:t>📄  FIU-IND STR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5120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7A8599"/>
                </a:solidFill>
                <a:latin typeface="Aptos"/>
              </a:rPr>
              <a:t>Auto-generated by Project Violet Milk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7A8599"/>
                </a:solidFill>
                <a:latin typeface="Aptos"/>
              </a:rPr>
              <a:t>Wallet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88036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9F7AEA"/>
                </a:solidFill>
                <a:latin typeface="Aptos Mono"/>
              </a:rPr>
              <a:t>0xA7F3...e92d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18688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7A8599"/>
                </a:solidFill>
                <a:latin typeface="Aptos"/>
              </a:rPr>
              <a:t>Violet Milk Percentage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218688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F06080"/>
                </a:solidFill>
                <a:latin typeface="Aptos Mono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57015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7A8599"/>
                </a:solidFill>
                <a:latin typeface="Aptos"/>
              </a:rPr>
              <a:t>Risk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557015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F06080"/>
                </a:solidFill>
                <a:latin typeface="Aptos Mono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95344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7A8599"/>
                </a:solidFill>
                <a:latin typeface="Aptos"/>
              </a:rPr>
              <a:t>Transaction Layers Traced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895344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E8E6E3"/>
                </a:solidFill>
                <a:latin typeface="Aptos Mono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33672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7A8599"/>
                </a:solidFill>
                <a:latin typeface="Aptos"/>
              </a:rPr>
              <a:t>Connected Wallets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423367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E8E6E3"/>
                </a:solidFill>
                <a:latin typeface="Aptos Mono"/>
              </a:rPr>
              <a:t>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572000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7A8599"/>
                </a:solidFill>
                <a:latin typeface="Aptos"/>
              </a:rPr>
              <a:t>Mixers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57200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F06080"/>
                </a:solidFill>
                <a:latin typeface="Apto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10327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7A8599"/>
                </a:solidFill>
                <a:latin typeface="Aptos"/>
              </a:rPr>
              <a:t>OTC Trade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910327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F0C040"/>
                </a:solidFill>
                <a:latin typeface="Aptos Mono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413248"/>
            <a:ext cx="2377440" cy="320040"/>
          </a:xfrm>
          <a:prstGeom prst="roundRect">
            <a:avLst/>
          </a:prstGeom>
          <a:solidFill>
            <a:srgbClr val="9F7AEA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541324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Aptos Mono"/>
              </a:rPr>
              <a:t>FILE STR WITH FIU-IND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2057400"/>
            <a:ext cx="3749039" cy="11430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2221992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⏱️ Before Project Violet Milk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51460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06080"/>
                </a:solidFill>
                <a:latin typeface="Aptos"/>
              </a:rPr>
              <a:t>Weeks of manual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88036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7A8599"/>
                </a:solidFill>
                <a:latin typeface="Aptos"/>
              </a:rPr>
              <a:t>Analysts manually trace each transaction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3474720"/>
            <a:ext cx="3749039" cy="11430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3639312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⚡ With Project Violet Milk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93192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3DD6B5"/>
                </a:solidFill>
                <a:latin typeface="Aptos"/>
              </a:rPr>
              <a:t>One click. Seconds.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29768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7A8599"/>
                </a:solidFill>
                <a:latin typeface="Aptos"/>
              </a:rPr>
              <a:t>AI agents do the heavy lifting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892040"/>
            <a:ext cx="3749039" cy="8229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5029200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7A8599"/>
                </a:solidFill>
                <a:latin typeface="Aptos Mono"/>
              </a:rPr>
              <a:t>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5340096"/>
            <a:ext cx="3383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Aptos Mono"/>
              </a:rPr>
              <a:t>7-Day STR   •   KYC Geo-tag   •   AML/CFT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COMPETITIVE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Why Project Violet Milk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Purpose-built for India’s regulatory landscape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291840" cy="502920"/>
          </a:xfrm>
          <a:prstGeom prst="roundRect">
            <a:avLst/>
          </a:prstGeom>
          <a:solidFill>
            <a:srgbClr val="0B1A2E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Aptos Mono"/>
              </a:rPr>
              <a:t>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920240"/>
            <a:ext cx="1554480" cy="502920"/>
          </a:xfrm>
          <a:prstGeom prst="roundRect">
            <a:avLst/>
          </a:prstGeom>
          <a:solidFill>
            <a:srgbClr val="0B1A2E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92024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Aptos Mono"/>
              </a:rPr>
              <a:t>Chainalysis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920240"/>
            <a:ext cx="1554480" cy="502920"/>
          </a:xfrm>
          <a:prstGeom prst="roundRect">
            <a:avLst/>
          </a:prstGeom>
          <a:solidFill>
            <a:srgbClr val="0B1A2E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92024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Aptos Mono"/>
              </a:rPr>
              <a:t>TRM Labs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920240"/>
            <a:ext cx="1554480" cy="502920"/>
          </a:xfrm>
          <a:prstGeom prst="roundRect">
            <a:avLst/>
          </a:prstGeom>
          <a:solidFill>
            <a:srgbClr val="0B1A2E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92024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Aptos Mono"/>
              </a:rPr>
              <a:t>SecureTrace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920240"/>
            <a:ext cx="2377440" cy="502920"/>
          </a:xfrm>
          <a:prstGeom prst="roundRect">
            <a:avLst/>
          </a:prstGeom>
          <a:solidFill>
            <a:srgbClr val="9F7AEA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92024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9F7AEA"/>
                </a:solidFill>
                <a:latin typeface="Aptos Mono"/>
              </a:rPr>
              <a:t>🟣 Violet Milk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68880"/>
            <a:ext cx="10332720" cy="4572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46888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Aptos"/>
              </a:rPr>
              <a:t>India-Specific OTC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46888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46888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46888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4688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3DD6B5"/>
                </a:solidFill>
                <a:latin typeface="Aptos"/>
              </a:rPr>
              <a:t>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99232"/>
            <a:ext cx="10332720" cy="4572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999232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Aptos"/>
              </a:rPr>
              <a:t>Mule Account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999232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999232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999232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99923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3DD6B5"/>
                </a:solidFill>
                <a:latin typeface="Aptos"/>
              </a:rPr>
              <a:t>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29584"/>
            <a:ext cx="10332720" cy="4572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529584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Aptos"/>
              </a:rPr>
              <a:t>12+ Layer Deep Tracing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3529584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529584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529584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529584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3DD6B5"/>
                </a:solidFill>
                <a:latin typeface="Aptos"/>
              </a:rPr>
              <a:t>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059935"/>
            <a:ext cx="10332720" cy="4572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059935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Aptos"/>
              </a:rPr>
              <a:t>FIU-IND STR Generation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059935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059935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059935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059935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3DD6B5"/>
                </a:solidFill>
                <a:latin typeface="Aptos"/>
              </a:rPr>
              <a:t>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590288"/>
            <a:ext cx="10332720" cy="45720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590288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Aptos"/>
              </a:rPr>
              <a:t>FREE for Regulators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459028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59028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590288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6080"/>
                </a:solidFill>
                <a:latin typeface="Aptos"/>
              </a:rPr>
              <a:t>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590288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3DD6B5"/>
                </a:solidFill>
                <a:latin typeface="Aptos"/>
              </a:rP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5212080"/>
            <a:ext cx="9509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1">
                <a:solidFill>
                  <a:srgbClr val="9F7AEA"/>
                </a:solidFill>
                <a:latin typeface="Georgia"/>
              </a:rPr>
              <a:t>Global tools weren't built for India's OTC ecosystem, mule account networks, or FIU-IND compliance. We were.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The Impact — What We Enable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Transforming India’s crypto crime investigation 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4937760" cy="26517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06080"/>
                </a:solidFill>
                <a:latin typeface="Aptos Mono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60604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FIU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0604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E8E6E3"/>
                </a:solidFill>
                <a:latin typeface="Aptos Mono"/>
              </a:rPr>
              <a:t>22/year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035808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Investigation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035808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E8E6E3"/>
                </a:solidFill>
                <a:latin typeface="Aptos Mono"/>
              </a:rPr>
              <a:t>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3465576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OTC Tracked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465576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E8E6E3"/>
                </a:solidFill>
                <a:latin typeface="Aptos Mono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895344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Mule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89534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E8E6E3"/>
                </a:solidFill>
                <a:latin typeface="Aptos Mono"/>
              </a:rPr>
              <a:t>Manual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017520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0C040"/>
                </a:solidFill>
                <a:latin typeface="Aptos Mono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874519"/>
            <a:ext cx="4937760" cy="265176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0574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3DD6B5"/>
                </a:solidFill>
                <a:latin typeface="Aptos Mono"/>
              </a:rPr>
              <a:t>WITH VIOLET MILK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60604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FIU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60604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E8E6E3"/>
                </a:solidFill>
                <a:latin typeface="Aptos Mono"/>
              </a:rPr>
              <a:t>100+ automated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3035808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Investigation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035808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E8E6E3"/>
                </a:solidFill>
                <a:latin typeface="Aptos Mono"/>
              </a:rPr>
              <a:t>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3465576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OTC Tracked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465576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E8E6E3"/>
                </a:solidFill>
                <a:latin typeface="Aptos Mono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3895344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7A8599"/>
                </a:solidFill>
                <a:latin typeface="Aptos"/>
              </a:rPr>
              <a:t>Mule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89534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E8E6E3"/>
                </a:solidFill>
                <a:latin typeface="Aptos Mono"/>
              </a:rPr>
              <a:t>Automated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892040"/>
            <a:ext cx="6675120" cy="86868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5029200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🗺️ 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983480"/>
            <a:ext cx="5074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Aptos"/>
              </a:rPr>
              <a:t>India's first national crypto intelligence grid — connecting every exchange, every regulator, every investigation.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9F7AEA"/>
                </a:solidFill>
                <a:latin typeface="Aptos Mono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8E6E3"/>
                </a:solidFill>
                <a:latin typeface="Georgia"/>
              </a:rPr>
              <a:t>What We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7A8599"/>
                </a:solidFill>
                <a:latin typeface="Aptos"/>
              </a:rPr>
              <a:t>Three things to take Project Violet Milk from prototype to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474720" cy="278892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i="0">
                <a:solidFill>
                  <a:srgbClr val="E8E6E3"/>
                </a:solidFill>
                <a:latin typeface="Aptos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9F7AEA"/>
                </a:solidFill>
                <a:latin typeface="Aptos Mono"/>
              </a:rPr>
              <a:t>Data Partnerships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Aptos"/>
              </a:rPr>
              <a:t>Access to exchange transaction data and wallet labeling APIs to expand our tracking coverage across Indian crypto platforms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11680"/>
            <a:ext cx="3474720" cy="278892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i="0">
                <a:solidFill>
                  <a:srgbClr val="E8E6E3"/>
                </a:solidFill>
                <a:latin typeface="Aptos"/>
              </a:rPr>
              <a:t>🏛️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260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0C040"/>
                </a:solidFill>
                <a:latin typeface="Aptos Mono"/>
              </a:rPr>
              <a:t>Regulatory 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474720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Aptos"/>
              </a:rPr>
              <a:t>Access to FIU-IND's regulatory sandbox to pilot our platform with real-world suspicious transaction data and compliance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011680"/>
            <a:ext cx="3474720" cy="2788920"/>
          </a:xfrm>
          <a:prstGeom prst="roundRect">
            <a:avLst/>
          </a:prstGeom>
          <a:solidFill>
            <a:srgbClr val="0F2138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i="0">
                <a:solidFill>
                  <a:srgbClr val="E8E6E3"/>
                </a:solidFill>
                <a:latin typeface="Aptos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260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3DD6B5"/>
                </a:solidFill>
                <a:latin typeface="Aptos Mono"/>
              </a:rPr>
              <a:t>Expert Mentorship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474720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Aptos"/>
              </a:rPr>
              <a:t>Guidance from financial crime investigators, blockchain forensics experts, and regulatory compliance professionals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5669280"/>
            <a:ext cx="1828800" cy="182880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"/>
            <a:ext cx="1828800" cy="1828800"/>
          </a:xfrm>
          <a:prstGeom prst="ellipse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9F7AEA"/>
                </a:solidFill>
                <a:latin typeface="Aptos Mono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0876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E8E6E3"/>
                </a:solidFill>
                <a:latin typeface="Georgia"/>
              </a:rPr>
              <a:t>The Violet Milk Never Disappears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423160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 i="1">
                <a:solidFill>
                  <a:srgbClr val="7A8599"/>
                </a:solidFill>
                <a:latin typeface="Georgia"/>
              </a:rPr>
              <a:t>We have the violet milk, the utensils, and the law.</a:t>
            </a:r>
            <a:br/>
            <a:r>
              <a:t>We just need the 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474720"/>
            <a:ext cx="6675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9F7AEA"/>
                </a:solidFill>
                <a:latin typeface="Georgia"/>
              </a:rPr>
              <a:t>Project Violet Milk is that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389120"/>
            <a:ext cx="868680" cy="310896"/>
          </a:xfrm>
          <a:prstGeom prst="roundRect">
            <a:avLst/>
          </a:prstGeom>
          <a:solidFill>
            <a:srgbClr val="130F1D"/>
          </a:solidFill>
          <a:ln w="12700">
            <a:solidFill>
              <a:srgbClr val="4F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4389120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9F7AEA"/>
                </a:solidFill>
                <a:latin typeface="Aptos Mono"/>
              </a:rPr>
              <a:t>Pranshu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38912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7A8599"/>
                </a:solidFill>
                <a:latin typeface="Aptos"/>
              </a:rPr>
              <a:t>B.Tech Cybersecurity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074920"/>
            <a:ext cx="6309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0C040"/>
                </a:solidFill>
                <a:latin typeface="Aptos Mono"/>
              </a:rPr>
              <a:t>Built for India. Built for 2026. Built to win.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